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88552" y="45720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43032" y="45720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65792" y="123444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20272" y="123444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88552" y="201168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43032" y="201168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65792" y="278892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20272" y="2788920"/>
            <a:ext cx="749808" cy="749808"/>
          </a:xfrm>
          <a:prstGeom prst="rect">
            <a:avLst/>
          </a:prstGeom>
          <a:solidFill>
            <a:srgbClr val="1417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73152" cy="384048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Malgun Gothic"/>
              </a:rPr>
              <a:t>졸업작품  |  Unity 6000.3.10f1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7A7F9A"/>
                </a:solidFill>
                <a:latin typeface="Malgun Gothic"/>
              </a:rPr>
              <a:t>Project: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Malgun Gothic"/>
              </a:rPr>
              <a:t>Checkmate RPG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C842"/>
                </a:solidFill>
                <a:latin typeface="Malgun Gothic"/>
              </a:rPr>
              <a:t>체스판 위의 실시간 전술전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0560"/>
            <a:ext cx="2011680" cy="347472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17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AP 경제 시스템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480560"/>
            <a:ext cx="2011680" cy="347472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517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체스 이동 규칙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4480560"/>
            <a:ext cx="2011680" cy="347472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517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넉백 / Splat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480560"/>
            <a:ext cx="2011680" cy="347472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4517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원소 반응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4480560"/>
            <a:ext cx="2011680" cy="347472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4517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ActionBid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842"/>
                </a:solidFill>
                <a:latin typeface="Malgun Gothic"/>
              </a:rPr>
              <a:t>8×8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전술 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842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체스 직군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842"/>
                </a:solidFill>
                <a:latin typeface="Malgun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진영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842"/>
                </a:solidFill>
                <a:latin typeface="Malgun Gothic"/>
              </a:rPr>
              <a:t>50+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세부 클래스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842"/>
                </a:solidFill>
                <a:latin typeface="Malgun Gothic"/>
              </a:rPr>
              <a:t>12+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원소 반응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목 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solidFill>
            <a:srgbClr val="12162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Malgun Gothic"/>
              </a:rPr>
              <a:t>PART 1 — 기획서 (Game Design Document)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01. 프로젝트 개요 및 컨셉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379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02. 세계관 — 프랙탈 존 &amp; 싱크로나이저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03. 핵심 플레이 3대 기둥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68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04. AP 경제 시스템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05. 체스 이동 규칙 및 직군 명세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06. 물리 엔진 2.0 — 넉백 &amp; Splat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638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07. 타일 시스템 &amp; 지형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08. 원소 반응 콤보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941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09. CC 매트릭스 시스템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9593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10. 3개 진영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24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11. 적 AI 알고리즘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89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12. 성장 메타 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11457432" cy="347472"/>
          </a:xfrm>
          <a:prstGeom prst="rect">
            <a:avLst/>
          </a:prstGeom>
          <a:solidFill>
            <a:srgbClr val="1216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Malgun Gothic"/>
              </a:rPr>
              <a:t>PART 2 — 개발 현황 (Development Status)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76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13. 기술 스택 &amp; 아키텍처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412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14. 구현된 핵심 시스템 상세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15. AP Manager / ActionScheduler / Interrupt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716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16. 체스 이동 패턴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367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17. 상태이상 &amp; 원소 반응 구현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18. AI 시스템 (ActionBid / UnitBrain)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6867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19. Replay &amp; 결정론적 시뮬레이션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7132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20. 제작 에셋 현황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73974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F9A"/>
                </a:solidFill>
                <a:latin typeface="Malgun Gothic"/>
              </a:rPr>
              <a:t>▸  21. 개발 마일스톤 &amp; 향후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프로젝트 개요 및 기획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03520" cy="3291840"/>
          </a:xfrm>
          <a:prstGeom prst="rect">
            <a:avLst/>
          </a:prstGeom>
          <a:solidFill>
            <a:srgbClr val="161928"/>
          </a:solidFill>
          <a:ln w="12700">
            <a:solidFill>
              <a:srgbClr val="25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Malgun Gothic"/>
              </a:rPr>
              <a:t>기본 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371600" cy="329184"/>
          </a:xfrm>
          <a:prstGeom prst="rect">
            <a:avLst/>
          </a:prstGeom>
          <a:solidFill>
            <a:srgbClr val="1A1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F9A"/>
                </a:solidFill>
                <a:latin typeface="Malgun Gothic"/>
              </a:rPr>
              <a:t>프로젝트명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08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Project: Checkmate RPG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01952"/>
            <a:ext cx="1371600" cy="329184"/>
          </a:xfrm>
          <a:prstGeom prst="rect">
            <a:avLst/>
          </a:prstGeom>
          <a:solidFill>
            <a:srgbClr val="1A1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476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F9A"/>
                </a:solidFill>
                <a:latin typeface="Malgun Gothic"/>
              </a:rPr>
              <a:t>장  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9476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실시간 전술 체스 RPG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40864"/>
            <a:ext cx="1371600" cy="329184"/>
          </a:xfrm>
          <a:prstGeom prst="rect">
            <a:avLst/>
          </a:prstGeom>
          <a:solidFill>
            <a:srgbClr val="1A1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865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F9A"/>
                </a:solidFill>
                <a:latin typeface="Malgun Gothic"/>
              </a:rPr>
              <a:t>플랫폼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3865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PC (Windows)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79776"/>
            <a:ext cx="1371600" cy="329184"/>
          </a:xfrm>
          <a:prstGeom prst="rect">
            <a:avLst/>
          </a:prstGeom>
          <a:solidFill>
            <a:srgbClr val="1A1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254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F9A"/>
                </a:solidFill>
                <a:latin typeface="Malgun Gothic"/>
              </a:rPr>
              <a:t>엔  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8254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Unity 6000.3.10f1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18688"/>
            <a:ext cx="1371600" cy="329184"/>
          </a:xfrm>
          <a:prstGeom prst="rect">
            <a:avLst/>
          </a:prstGeom>
          <a:solidFill>
            <a:srgbClr val="1A1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644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F9A"/>
                </a:solidFill>
                <a:latin typeface="Malgun Gothic"/>
              </a:rPr>
              <a:t>렌더링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2644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Universal Render Pipeline (URP)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57600"/>
            <a:ext cx="1371600" cy="329184"/>
          </a:xfrm>
          <a:prstGeom prst="rect">
            <a:avLst/>
          </a:prstGeom>
          <a:solidFill>
            <a:srgbClr val="1A1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F9A"/>
                </a:solidFill>
                <a:latin typeface="Malgun Gothic"/>
              </a:rPr>
              <a:t>개발 기간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2026년 졸업작품 프로젝트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051560"/>
            <a:ext cx="5852160" cy="3291840"/>
          </a:xfrm>
          <a:prstGeom prst="rect">
            <a:avLst/>
          </a:prstGeom>
          <a:solidFill>
            <a:srgbClr val="161928"/>
          </a:solidFill>
          <a:ln w="12700">
            <a:solidFill>
              <a:srgbClr val="25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Malgun Gothic"/>
              </a:rPr>
              <a:t>핵심 기획 방향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F9A"/>
                </a:solidFill>
                <a:latin typeface="Malgun Gothic"/>
              </a:rPr>
              <a:t>체스(Chess)를 명일방주(Arknights)식으로 해석한
AP 기반 실시간 위치전 전략 RPG
◆ 전통 체스의 이동 규칙 → 검증된 전술 깊이
◆ 실시간 AP 경제 → 자원 관리 전략층 추가
◆ 물리 기반 위치전 → 넉백·Splat 콤보 시스템
◆ 원소 반응 레이어 → 전술 복합성 극대화
◆ 전원 배치 시작 → 소환 대기 없이 즉각 지휘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80560"/>
            <a:ext cx="11457432" cy="2011680"/>
          </a:xfrm>
          <a:prstGeom prst="rect">
            <a:avLst/>
          </a:prstGeom>
          <a:solidFill>
            <a:srgbClr val="0F1220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Malgun Gothic"/>
              </a:rPr>
              <a:t>기존 전략 게임과의 차별점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57"/>
                </a:solidFill>
                <a:latin typeface="Malgun Gothic"/>
              </a:rPr>
              <a:t>❌ 기존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892040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코스트 적립 대기 / 단순 유닛 강화 / 이동-공격 반복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3951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  <a:latin typeface="Malgun Gothic"/>
              </a:rPr>
              <a:t>✅ 이 게임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239512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전원 배치 즉시 시작 / AP 자원 관리 / 체스 규칙 전술성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8698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  <a:latin typeface="Malgun Gothic"/>
              </a:rPr>
              <a:t>✅ 이 게임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586984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무게·넉백 위치전 콤보 / 원소 반응 크로스오버 레이어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세계관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세계관 — 프랙탈 존 &amp; 싱크로나이저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2468880"/>
          </a:xfrm>
          <a:prstGeom prst="rect">
            <a:avLst/>
          </a:prstGeom>
          <a:solidFill>
            <a:srgbClr val="16192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61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Malgun Gothic"/>
              </a:rPr>
              <a:t>⚡ 프랙탈 존 (Fractal Zone)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2704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81912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물리·원소 법칙이 극대화되는 거대 에너지 돔 내부의 전장.
탁 트인 평원·사막·수몰 유적이 주 무대. 시가지가 아닌 개활지이므로
8×8 체스보드 전황을 와이드 뷰로 한눈에 파악 가능.
기물 이동 시 바닥에 흙먼지·크레이터 생성 등 환경 상호작용 내포.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51560"/>
            <a:ext cx="5486400" cy="2468880"/>
          </a:xfrm>
          <a:prstGeom prst="rect">
            <a:avLst/>
          </a:prstGeom>
          <a:solidFill>
            <a:srgbClr val="1619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61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Malgun Gothic"/>
              </a:rPr>
              <a:t>👑 킹 = 싱크로나이저 (Synchronizer)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2704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81912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플레이어는 후방 사령관이 아닌 전장에 배치되는 '킹(King)'.
뇌파로 공간을 8×8 그리드로 안정화하며 전술 지휘 링크를 유지.
마스터가 사망해 통제 영역이 붕괴되면 부대원 전원 강제 이탈 → 게임 오버.
AP는 마스터의 '전술 연산력'. 위협 제거 시 AP 환불 구조로 내러티브와 연동.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486400" cy="2468880"/>
          </a:xfrm>
          <a:prstGeom prst="rect">
            <a:avLst/>
          </a:prstGeom>
          <a:solidFill>
            <a:srgbClr val="161928"/>
          </a:solidFill>
          <a:ln w="1905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FF"/>
                </a:solidFill>
                <a:latin typeface="Malgun Gothic"/>
              </a:rPr>
              <a:t>🎭 진영 구조 (Faction Matrix)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33088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87952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3개 진영이 프랙탈 존의 특수 자원을 차지하기 위해 기물을 파견.
◆ 발할라 인더스트리 — 물리 중공업, 넉백/그랩 특화
◆ 에테르 학원도시 — 원소 마법, 초전도·빙결 콤보 특화
◆ 네온 신디케이트 — 기동·암살, 출혈·중독 특화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657600"/>
            <a:ext cx="5486400" cy="2468880"/>
          </a:xfrm>
          <a:prstGeom prst="rect">
            <a:avLst/>
          </a:prstGeom>
          <a:solidFill>
            <a:srgbClr val="161928"/>
          </a:solidFill>
          <a:ln w="1905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7673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Malgun Gothic"/>
              </a:rPr>
              <a:t>🎨 비주얼 컨셉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33088"/>
            <a:ext cx="11457432" cy="9144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187952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핵심 테마: '귀엽지만 묵직하고, 캐주얼하지만 치명적인 근미래 전술전'
3~4등신 SD 비율 캐릭터 + URP 고해상도 렌더링
Volumetric Lighting, 파티클 이펙트 활용한 원소 반응 시각화
직군 실루엣 직관성: 캐릭터 본체보다 큰 무기·프랍으로 식별성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코어 컨셉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핵심 플레이 3대 기둥 (Three Core Pillars)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5577840"/>
          </a:xfrm>
          <a:prstGeom prst="rect">
            <a:avLst/>
          </a:prstGeom>
          <a:solidFill>
            <a:srgbClr val="16192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548640" cy="36576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C1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Malgun Gothic"/>
              </a:rPr>
              <a:t>⚡ 전원 배치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570"/>
                </a:solidFill>
                <a:latin typeface="Malgun Gothic"/>
              </a:rPr>
              <a:t>All-Deployed Start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10512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74519"/>
            <a:ext cx="3429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전투 시작 시 특수 스킬을 제외한 어떠한 소환 없이,
아군(네임드 및 징집병)과 적군이 8×8 보드에
전원 배치된 상태로 시작한다.
코스트를 모으는 지루함 없이 64타일 전체의
전황을 대화면으로 확인하며 즉각적인
지휘 통제에 돌입한다.
키보드 핫키와 마우스 정밀 타겟팅으로
빠르고 쾌적한 지휘 경험 제공.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7" y="1051560"/>
            <a:ext cx="3749039" cy="5577840"/>
          </a:xfrm>
          <a:prstGeom prst="rect">
            <a:avLst/>
          </a:prstGeom>
          <a:solidFill>
            <a:srgbClr val="1619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097280"/>
            <a:ext cx="548640" cy="365760"/>
          </a:xfrm>
          <a:prstGeom prst="rect">
            <a:avLst/>
          </a:prstGeom>
          <a:solidFill>
            <a:srgbClr val="00E5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1115568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C14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7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🔋 행동력 경제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7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570"/>
                </a:solidFill>
                <a:latin typeface="Malgun Gothic"/>
              </a:rPr>
              <a:t>AP Economy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10512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1874519"/>
            <a:ext cx="3429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전장의 모든 기물 행동에 AP가 소모된다.
저비용 폰으로 자원을 벌고 고비용 퀸/룩을
가동하는 유기적 자원 관리가 필수.
◆ 기본 회복: +4 AP/sec 자연 회복
◆ 처치 환불: 폰 처치 시 AP 환불
◆ AP 부족 피드백: 중앙 게이지 붉게 점멸
AP 수치는 마스터의 '전술 연산력'을 표현하는
내러티브와 연동된 자원 시스템.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4" y="1051560"/>
            <a:ext cx="3749039" cy="5577840"/>
          </a:xfrm>
          <a:prstGeom prst="rect">
            <a:avLst/>
          </a:prstGeom>
          <a:solidFill>
            <a:srgbClr val="161928"/>
          </a:solidFill>
          <a:ln w="1905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11894" y="1097280"/>
            <a:ext cx="548640" cy="365760"/>
          </a:xfrm>
          <a:prstGeom prst="rect">
            <a:avLst/>
          </a:prstGeom>
          <a:solidFill>
            <a:srgbClr val="9B5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4" y="1115568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C14"/>
                </a:solidFill>
                <a:latin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4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FF"/>
                </a:solidFill>
                <a:latin typeface="Malgun Gothic"/>
              </a:rPr>
              <a:t>♟ 기보와 공명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4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570"/>
                </a:solidFill>
                <a:latin typeface="Malgun Gothic"/>
              </a:rPr>
              <a:t>Notation &amp; Resonance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810512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4" y="1874519"/>
            <a:ext cx="3429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체스 퍼즐을 풀어 스탯을 해방하는 '기보'
시스템과 중복 캐릭터 획득 시 AP 소모를
영구 감소시키는 '공명' 메타 성장 시스템.
◆ 기보: TP를 소모해 체스판 노드를 열어
   캐릭터 스탯 및 궁극 패시브 해금
◆ 공명 3단계: 행동 소모 AP 영구 할인
   (폰 -1, 나이트/비숍 -2, 룩 -5)
졸업작품 범위에서는 기초 구조 구현 목표.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AP 경제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AP 경제 시스템 — 자원 설계 명세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228600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Malgun Gothic"/>
              </a:rPr>
              <a:t>AP 수급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2011680" cy="301752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자연 회복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49961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Malgun Gothic"/>
              </a:rPr>
              <a:t>+4 AP/sec  (전장 기본)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2011680" cy="301752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6537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척후대(폰) 생존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86537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Malgun Gothic"/>
              </a:rPr>
              <a:t>+0.8 AP/sec  (유닛당)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2011680" cy="301752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3113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기수 폰 스킬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23113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+65 AP / 18초  (폭발적)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60320"/>
            <a:ext cx="2011680" cy="301752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968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적 처치 환불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59689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+15 AP  (돌격대 처치 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26080"/>
            <a:ext cx="2011680" cy="301752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626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책사 킹 클래스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96265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FF"/>
                </a:solidFill>
                <a:latin typeface="Malgun Gothic"/>
              </a:rPr>
              <a:t>스킬 사용 AP 비용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051560"/>
            <a:ext cx="5760720" cy="292608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Malgun Gothic"/>
              </a:rPr>
              <a:t>기물별 이동 AP 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49961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</a:rPr>
              <a:t>♟ 폰 (Pawn)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149961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842"/>
                </a:solidFill>
                <a:latin typeface="Malgun Gothic"/>
              </a:rPr>
              <a:t>8 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1508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행동 속도: 보통~느림  |  쿨타임 4.0~5.0초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1883664"/>
            <a:ext cx="11457432" cy="9144"/>
          </a:xfrm>
          <a:prstGeom prst="rect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9019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</a:rPr>
              <a:t>♞ 나이트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190195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842"/>
                </a:solidFill>
                <a:latin typeface="Malgun Gothic"/>
              </a:rPr>
              <a:t>24 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19110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행동 속도: 빠름~매우빠름  |  쿨타임 1.5~2.0초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286000"/>
            <a:ext cx="11457432" cy="9144"/>
          </a:xfrm>
          <a:prstGeom prst="rect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30428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</a:rPr>
              <a:t>♝ 비숍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230428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842"/>
                </a:solidFill>
                <a:latin typeface="Malgun Gothic"/>
              </a:rPr>
              <a:t>24 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3134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행동 속도: 보통  |  쿨타임 1.5~2.0초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88336"/>
            <a:ext cx="11457432" cy="9144"/>
          </a:xfrm>
          <a:prstGeom prst="rect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70662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</a:rPr>
              <a:t>♜ 룩 (Rook)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70662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842"/>
                </a:solidFill>
                <a:latin typeface="Malgun Gothic"/>
              </a:rPr>
              <a:t>36 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7157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행동 속도: 느림  |  쿨타임 6.0초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090672"/>
            <a:ext cx="11457432" cy="9144"/>
          </a:xfrm>
          <a:prstGeom prst="rect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10896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</a:rPr>
              <a:t>♛ 퀸 (Queen)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10896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842"/>
                </a:solidFill>
                <a:latin typeface="Malgun Gothic"/>
              </a:rPr>
              <a:t>48 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1181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행동 속도: 보통~느림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93008"/>
            <a:ext cx="11457432" cy="9144"/>
          </a:xfrm>
          <a:prstGeom prst="rect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51129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</a:rPr>
              <a:t>♚ 킹 (King)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51129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842"/>
                </a:solidFill>
                <a:latin typeface="Malgun Gothic"/>
              </a:rPr>
              <a:t>24 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3520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슈트 포지션에 따라 빠름~느림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74720"/>
            <a:ext cx="11457432" cy="1371600"/>
          </a:xfrm>
          <a:prstGeom prst="rect">
            <a:avLst/>
          </a:prstGeom>
          <a:solidFill>
            <a:srgbClr val="10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Malgun Gothic"/>
              </a:rPr>
              <a:t>AP 경제 전략 순환 구조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840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F9A"/>
                </a:solidFill>
                <a:latin typeface="Malgun Gothic"/>
              </a:rPr>
              <a:t>저비용 폰(8 AP) 대량 운용 → AP 수급 확보  →  고비용 퀸(48 AP) / 룩(36 AP) 가동  →  전선 돌파
적 폰 처치(+15 AP 환불) → AP 풀 유지  →  AP 부족 시 행동 차단 + 붉은 점멸 UI 경고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983480"/>
            <a:ext cx="11457432" cy="1645920"/>
          </a:xfrm>
          <a:prstGeom prst="rect">
            <a:avLst/>
          </a:prstGeom>
          <a:solidFill>
            <a:srgbClr val="161928"/>
          </a:solidFill>
          <a:ln w="1270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0292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820"/>
                </a:solidFill>
                <a:latin typeface="Malgun Gothic"/>
              </a:rPr>
              <a:t>징집병 (Conscripts) 자동 생성 — '전원 배치 시작'의 핵심 메커니즘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376672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전투 시작 시, 플레이어 덱에 폰이 배치되지 않은 2열 빈칸에 '징집병'이 자동 생성.
징집병 레벨 = 상위 4명 레벨 평균, 스탯은 척후대의 80% 수준. 스킬 없는 1차 고기방패 &amp; AP 제물 역할.
프로모션(8열 도달 시): 변신 + HP 비율 유지 + 디버프 해제 + AP 100% 회복 + 즉시 행동 가능.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체스 이동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체스 이동 규칙 및 6대 직군 명세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274320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2471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842"/>
                </a:solidFill>
                <a:latin typeface="Malgun Gothic"/>
              </a:rPr>
              <a:t>♟ 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Pawn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399032"/>
            <a:ext cx="731520" cy="219456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4081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C14"/>
                </a:solidFill>
                <a:latin typeface="Malgun Gothic"/>
              </a:rPr>
              <a:t>8 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• 전방 1칸 이동 (첫 이동 시 2칸)
• 대각선 전방으로만 공격
• 8열 도달 시 프로모션
• 하위 직군: 척후대/돌격대/방어대/
  기수/에이전트/공병 등 14종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7" y="1051560"/>
            <a:ext cx="3749039" cy="274320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7" y="105156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112471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5FF"/>
                </a:solidFill>
                <a:latin typeface="Malgun Gothic"/>
              </a:rPr>
              <a:t>♞ 나이트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7" y="1124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Knight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7" y="1399032"/>
            <a:ext cx="731520" cy="219456"/>
          </a:xfrm>
          <a:prstGeom prst="rect">
            <a:avLst/>
          </a:prstGeom>
          <a:solidFill>
            <a:srgbClr val="00E5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7" y="14081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C14"/>
                </a:solidFill>
                <a:latin typeface="Malgun Gothic"/>
              </a:rPr>
              <a:t>24 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170992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• L자 점프 이동 (2+1칸)
• 모든 기물을 뛰어넘어 이동
• 하위 직군: 돌격기사/기동기사/
  환영기사/마검사/전차 등 12종
• 기동기사: 이동 AP 18로 할인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4" y="1051560"/>
            <a:ext cx="3749039" cy="274320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4" y="105156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4" y="112471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FF"/>
                </a:solidFill>
                <a:latin typeface="Malgun Gothic"/>
              </a:rPr>
              <a:t>♝ 비숍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4" y="1124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Bishop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574" y="1399032"/>
            <a:ext cx="731520" cy="219456"/>
          </a:xfrm>
          <a:prstGeom prst="rect">
            <a:avLst/>
          </a:prstGeom>
          <a:solidFill>
            <a:srgbClr val="9B5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4" y="14081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C14"/>
                </a:solidFill>
                <a:latin typeface="Malgun Gothic"/>
              </a:rPr>
              <a:t>24 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4" y="170992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• 대각선 방향 슬라이딩
• 동일 색 타일 이동 특성
• 하위 직군: 대주교/사제/마도사/
  저격수/성역술사 등 11종
• 마도사: 체인 라이트닝 공격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86200"/>
            <a:ext cx="3749039" cy="2743200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5935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4757"/>
                </a:solidFill>
                <a:latin typeface="Malgun Gothic"/>
              </a:rPr>
              <a:t>♜ 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959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Rook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4233672"/>
            <a:ext cx="731520" cy="219456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42428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C14"/>
                </a:solidFill>
                <a:latin typeface="Malgun Gothic"/>
              </a:rPr>
              <a:t>36 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54456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• 직선(가로·세로) 슬라이딩
• 무게 Heavy, 쿨타임 6초
• 하위 직군: 포트리스/집행관/
  거신/주포/포탑 등 10종
• 집행관: 그랩(당기기) CC 보유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7" y="3886200"/>
            <a:ext cx="3749039" cy="2743200"/>
          </a:xfrm>
          <a:prstGeom prst="rect">
            <a:avLst/>
          </a:prstGeom>
          <a:solidFill>
            <a:srgbClr val="161928"/>
          </a:solidFill>
          <a:ln w="1270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0247" y="388620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7" y="395935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7043"/>
                </a:solidFill>
                <a:latin typeface="Malgun Gothic"/>
              </a:rPr>
              <a:t>♛ 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6087" y="3959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Queen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76087" y="4233672"/>
            <a:ext cx="731520" cy="219456"/>
          </a:xfrm>
          <a:prstGeom prst="rect">
            <a:avLst/>
          </a:prstGeom>
          <a:solidFill>
            <a:srgbClr val="FF704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76087" y="42428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C14"/>
                </a:solidFill>
                <a:latin typeface="Malgun Gothic"/>
              </a:rPr>
              <a:t>48 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7" y="454456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• 8방향 전방향 슬라이딩
• 가장 높은 이동 비용
• 하위 직군: 대왕/마녀/여제/
  전쟁군주/기사왕 등 8종
• 여제: 세계관 최강 단일 딜러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74734" y="3886200"/>
            <a:ext cx="3749039" cy="2743200"/>
          </a:xfrm>
          <a:prstGeom prst="rect">
            <a:avLst/>
          </a:prstGeom>
          <a:solidFill>
            <a:srgbClr val="161928"/>
          </a:solidFill>
          <a:ln w="1270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74734" y="388620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4" y="395935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820"/>
                </a:solidFill>
                <a:latin typeface="Malgun Gothic"/>
              </a:rPr>
              <a:t>♚ 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4" y="3959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0574" y="4233672"/>
            <a:ext cx="731520" cy="219456"/>
          </a:xfrm>
          <a:prstGeom prst="rect">
            <a:avLst/>
          </a:prstGeom>
          <a:solidFill>
            <a:srgbClr val="E8A8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4" y="42428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C14"/>
                </a:solidFill>
                <a:latin typeface="Malgun Gothic"/>
              </a:rPr>
              <a:t>24 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1894" y="454456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• 8방향 1칸 이동
• 유일한 패배 조건
• 슈트 교체로 클래스 변경:
  군주/폭군/책사/성왕/
  꼭두각시/거물/황제 7종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물리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물리 엔진 2.0 — 무게, 넉백, 소프트 낙사(Splat)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03520" cy="5577840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57"/>
                </a:solidFill>
                <a:latin typeface="Malgun Gothic"/>
              </a:rPr>
              <a:t>핵심 물리 규칙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4864" cy="82296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842"/>
                </a:solidFill>
                <a:latin typeface="Malgun Gothic"/>
              </a:rPr>
              <a:t>무게 등급 (Weight Grade 0~4)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모든 기물은 0~4단계의 무게 등급 보유.
넉백 거리 = Force - Weight (최소 1칸)
비틀거림(Stagger) 상태: 임시 무게 1 감소 효과
보스급 기물: 무게 감소 면역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14600"/>
            <a:ext cx="54864" cy="82296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57"/>
                </a:solidFill>
                <a:latin typeface="Malgun Gothic"/>
              </a:rPr>
              <a:t>소프트 낙사 — 에너지 장벽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0720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기존 '맵 밖 즉사(Ring-out)' 규칙 전면 폐기.
맵 가장자리 = 타오르는 붉은색 '에너지 장벽(Red Zone)'.
장벽 충돌 시: 즉사 대신 Splat 피해 적용.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54864" cy="82296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57"/>
                </a:solidFill>
                <a:latin typeface="Malgun Gothic"/>
              </a:rPr>
              <a:t>충돌 피해 — Splat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넉백 궤적 상 기물·장애물·맵 가장자리 충돌 시:
→ 충돌 직전 타일에서 강제 정지
→ 밀린 대상 + 충돌 대상 양측 Max HP 10% 고정 피해
→ 연쇄 충돌(당구장 효과)는 연산 과부하 방지상 불발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17720"/>
            <a:ext cx="54864" cy="822960"/>
          </a:xfrm>
          <a:prstGeom prst="rect">
            <a:avLst/>
          </a:prstGeom>
          <a:solidFill>
            <a:srgbClr val="9B5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B59FF"/>
                </a:solidFill>
                <a:latin typeface="Malgun Gothic"/>
              </a:rPr>
              <a:t>당기기 — Grab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1032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집행관 등: 적을 자신의 전방으로 강제 인력.
비틀거림(Stagger) 상태의 적에게 Grab 적중 시:
→ 당긴 직후 첫 공격이 강제 치명타
→ 40% 추가 피해 발생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69280"/>
            <a:ext cx="5029200" cy="502920"/>
          </a:xfrm>
          <a:prstGeom prst="rect">
            <a:avLst/>
          </a:prstGeom>
          <a:solidFill>
            <a:srgbClr val="1A1D32"/>
          </a:solidFill>
          <a:ln w="1270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820"/>
                </a:solidFill>
                <a:latin typeface="Malgun Gothic"/>
              </a:rPr>
              <a:t>물리 상태이상 (Physical Status)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비틀거림(Stagger) · 출혈(Bleed, 스택형) · 부상(Wound)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051560"/>
            <a:ext cx="5852160" cy="5577840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57"/>
                </a:solidFill>
                <a:latin typeface="Malgun Gothic"/>
              </a:rPr>
              <a:t>넉백 판정 흐름도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536192"/>
            <a:ext cx="4846320" cy="1234440"/>
          </a:xfrm>
          <a:prstGeom prst="rect">
            <a:avLst/>
          </a:prstGeom>
          <a:solidFill>
            <a:srgbClr val="1216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609344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넉백 스킬 시전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770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880360"/>
            <a:ext cx="4846320" cy="640080"/>
          </a:xfrm>
          <a:prstGeom prst="rect">
            <a:avLst/>
          </a:prstGeom>
          <a:solidFill>
            <a:srgbClr val="121628"/>
          </a:solidFill>
          <a:ln w="1270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9535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대상 Weight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520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630168"/>
            <a:ext cx="4846320" cy="822960"/>
          </a:xfrm>
          <a:prstGeom prst="rect">
            <a:avLst/>
          </a:prstGeom>
          <a:solidFill>
            <a:srgbClr val="1216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703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Malgun Gothic"/>
              </a:rPr>
              <a:t>넉백 거리 계산
Force − Weight = 이동 거리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4531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562856"/>
            <a:ext cx="4846320" cy="640080"/>
          </a:xfrm>
          <a:prstGeom prst="rect">
            <a:avLst/>
          </a:prstGeom>
          <a:solidFill>
            <a:srgbClr val="121628"/>
          </a:solidFill>
          <a:ln w="1270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6360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이동 경로 상 충돌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20293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5312664"/>
            <a:ext cx="4846320" cy="731520"/>
          </a:xfrm>
          <a:prstGeom prst="rect">
            <a:avLst/>
          </a:prstGeom>
          <a:solidFill>
            <a:srgbClr val="1216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8581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Malgun Gothic"/>
              </a:rPr>
              <a:t>장애물/기물 없음
→ 목적지까지 이동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604418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6153912"/>
            <a:ext cx="4846320" cy="731520"/>
          </a:xfrm>
          <a:prstGeom prst="rect">
            <a:avLst/>
          </a:prstGeom>
          <a:solidFill>
            <a:srgbClr val="1216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622706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  <a:latin typeface="Malgun Gothic"/>
              </a:rPr>
              <a:t>충돌 발생
→ Splat: 양측 Max HP 10% 피해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6995160"/>
            <a:ext cx="4846320" cy="731520"/>
          </a:xfrm>
          <a:prstGeom prst="rect">
            <a:avLst/>
          </a:prstGeom>
          <a:solidFill>
            <a:srgbClr val="1216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706831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  <a:latin typeface="Malgun Gothic"/>
              </a:rPr>
              <a:t>맵 끝 장벽 충돌
→ 에너지 장벽 대형 Splat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타일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타일 시스템 &amp; 동적 지형 상호작용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4572000"/>
          </a:xfrm>
          <a:prstGeom prst="rect">
            <a:avLst/>
          </a:prstGeom>
          <a:solidFill>
            <a:srgbClr val="16192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749039" cy="50292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Malgun Gothic"/>
              </a:rPr>
              <a:t>늪지대 (Swamp)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383280" cy="320040"/>
          </a:xfrm>
          <a:prstGeom prst="rect">
            <a:avLst/>
          </a:prstGeom>
          <a:solidFill>
            <a:srgbClr val="2ECC7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C14"/>
                </a:solidFill>
                <a:latin typeface="Malgun Gothic"/>
              </a:rPr>
              <a:t>Move Cost ×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이동 AP 비용 × 2.0 배율 적용
• 나이트의 '점프' 판정 스킬 사용 시에도
  도착 지점이 늪지대면 페널티 강제 적용
• 기동성 기물(나이트·정찰병)의 천적 타일
• 지형술사(비숍 하위 직군)가 생성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7" y="1051560"/>
            <a:ext cx="3749039" cy="4572000"/>
          </a:xfrm>
          <a:prstGeom prst="rect">
            <a:avLst/>
          </a:prstGeom>
          <a:solidFill>
            <a:srgbClr val="161928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7" y="1051560"/>
            <a:ext cx="3749039" cy="50292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57"/>
                </a:solidFill>
                <a:latin typeface="Malgun Gothic"/>
              </a:rPr>
              <a:t>가시밭 (Spikes)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7" y="1600200"/>
            <a:ext cx="3383280" cy="32004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7" y="16276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C14"/>
                </a:solidFill>
                <a:latin typeface="Malgun Gothic"/>
              </a:rPr>
              <a:t>Max HP 3% / sec (True DMG)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7" y="1993392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매 1초마다 대상의 Max HP 3% 고정 피해
• 방어력(Def) 완전 무시 True Damage
• 아군·적군 구분 없이 위에 있으면 발동
• 지형술사가 빈 타일에 생성 가능
• 체력이 높은 탱커(룩)에게 특히 위협적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4734" y="1051560"/>
            <a:ext cx="3749039" cy="4572000"/>
          </a:xfrm>
          <a:prstGeom prst="rect">
            <a:avLst/>
          </a:prstGeom>
          <a:solidFill>
            <a:srgbClr val="1619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4734" y="1051560"/>
            <a:ext cx="3749039" cy="50292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4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성역 (Sanctuary)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57614" y="1600200"/>
            <a:ext cx="3383280" cy="320040"/>
          </a:xfrm>
          <a:prstGeom prst="rect">
            <a:avLst/>
          </a:prstGeom>
          <a:solidFill>
            <a:srgbClr val="00E5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4" y="16276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C14"/>
                </a:solidFill>
                <a:latin typeface="Malgun Gothic"/>
              </a:rPr>
              <a:t>Def +15% / HP +2% Regen/sec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4" y="1993392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진입한 '아군' 유닛에게만 적용되는 버프
• 방어력 +15% 증가
• 초당 HP 2% 지속 회복 (Regen)
• 성역술사(비숍 하위 직군)가 생성
• 적군에게는 효과 없음 (아군 전용)
• 홀로그램 마법진 파티클 이펙트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60720"/>
            <a:ext cx="11457432" cy="868680"/>
          </a:xfrm>
          <a:prstGeom prst="rect">
            <a:avLst/>
          </a:prstGeom>
          <a:solidFill>
            <a:srgbClr val="201010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  <a:latin typeface="Malgun Gothic"/>
              </a:rPr>
              <a:t>⚠  설계 결정 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08192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'고지대(High Ground) 사거리 증가' 효과는 기획에서 전면 삭제. 체스 기물의 고정 이동 패턴(L자·대각선·직선)과 사거리 증가 개념이 시스템 충돌 우려.
지형 고저차 개념은 TBD로 비워두고, 평면 8×8 보드의 타일 디버프/버프 구현에 집중.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원소 반응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원소 반응 콤보 다이어그램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🔥 불 + 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043"/>
                </a:solidFill>
                <a:latin typeface="Malgun Gothic"/>
              </a:rPr>
              <a:t>화상 (Burn)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46504"/>
            <a:ext cx="11457432" cy="914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196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지속 마법 피해 + 마법 저항(Res) -20%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515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124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🔥 불 + ❄ 냉기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757"/>
                </a:solidFill>
                <a:latin typeface="Malgun Gothic"/>
              </a:rPr>
              <a:t>폭발 (Explosion)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46504"/>
            <a:ext cx="11457432" cy="914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8196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십자 범위 즉시 마법 피해 + 경량 적 넉백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124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🔥 불 + 🌿 자연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043"/>
                </a:solidFill>
                <a:latin typeface="Malgun Gothic"/>
              </a:rPr>
              <a:t>발화 (Ignite)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46504"/>
            <a:ext cx="11457432" cy="914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8196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지속 피해 + 주변 타일에 화염 장판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0515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124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🔥 불 + ⚡ 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757"/>
                </a:solidFill>
                <a:latin typeface="Malgun Gothic"/>
              </a:rPr>
              <a:t>과부하 (Overload)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746504"/>
            <a:ext cx="11457432" cy="914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18196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즉시 마법 피해 + 공격력(Atk) -25%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8803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2953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⚡ 전기 + ⚡ 전기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3227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Malgun Gothic"/>
              </a:rPr>
              <a:t>감전 (Shock)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575304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6484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연쇄 튕김 마법 피해 + 적 SP 게이지 소각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28803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2953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⚡ 전기 + ❄ 냉기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3227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Malgun Gothic"/>
              </a:rPr>
              <a:t>초전도 (Superconduct)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75304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1568" y="36484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물리 방어(Def) -40% + 비틀거림 유발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8803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953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⚡ 전기 + 🌿 자연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227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Malgun Gothic"/>
              </a:rPr>
              <a:t>마비 (Paralysis)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575304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36484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기본 공격 완전 봉인 + 이동 절반 봉쇄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28803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3728" y="2953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❄ 냉기 + ❄ 냉기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3227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Malgun Gothic"/>
              </a:rPr>
              <a:t>한기 (Chill)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75304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53728" y="36484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모든 행동 AP 비용 +20% 증가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7091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B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❄ 한기 + ❄ 냉기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E0FF"/>
                </a:solidFill>
                <a:latin typeface="Malgun Gothic"/>
              </a:rPr>
              <a:t>빙결 (Freeze)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404104"/>
            <a:ext cx="11457432" cy="9144"/>
          </a:xfrm>
          <a:prstGeom prst="rect">
            <a:avLst/>
          </a:prstGeom>
          <a:solidFill>
            <a:srgbClr val="B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54772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모든 행동 봉쇄. 보스는 Def/Res -25%로 변환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47091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01568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❄ 빙결 + 물리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01568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쇄빙 (Shatter)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404104"/>
            <a:ext cx="11457432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1568" y="54772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빙결 해제 + 막대한 추가 물리 피해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7091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❄ 냉기 + 🌿 자연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7648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Malgun Gothic"/>
              </a:rPr>
              <a:t>괴사 (Necrosis)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404104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7648" y="54772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HP 회복량 -60% 감소 (힐러 무력화)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47091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53728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🌿 자연 + 🌿 자연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Malgun Gothic"/>
              </a:rPr>
              <a:t>중독 (Poison)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404104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53728" y="54772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틱 마법 피해 지속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6537960"/>
            <a:ext cx="2788920" cy="1719072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6611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☠ 중독 + 🌿 자연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6885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Malgun Gothic"/>
              </a:rPr>
              <a:t>바이러스 (Virus)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7232904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" y="730605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중독 지속 최대화 + 주변 십자 범위 전염 (2차 재전염 Lock)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CC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군중 제어 (CC) 매트릭스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2606040"/>
          </a:xfrm>
          <a:prstGeom prst="rect">
            <a:avLst/>
          </a:prstGeom>
          <a:solidFill>
            <a:srgbClr val="161928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749039" cy="45720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24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57"/>
                </a:solidFill>
                <a:latin typeface="Malgun Gothic"/>
              </a:rPr>
              <a:t>⚡ 기절 (Stun)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27048"/>
            <a:ext cx="11457432" cy="914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이동·공격·스킬 사용 모두 불가
지속시간 동안 자연 AP 회복 일시 중단
집행관(룩)의 Grab 이후 연계 CC
→ 가장 치명적인 Hard 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7" y="1051560"/>
            <a:ext cx="3749039" cy="2606040"/>
          </a:xfrm>
          <a:prstGeom prst="rect">
            <a:avLst/>
          </a:prstGeom>
          <a:solidFill>
            <a:srgbClr val="161928"/>
          </a:solidFill>
          <a:ln w="1905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7" y="1051560"/>
            <a:ext cx="3749039" cy="45720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7" y="1124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043"/>
                </a:solidFill>
                <a:latin typeface="Malgun Gothic"/>
              </a:rPr>
              <a:t>🔗 속박 (Root)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27048"/>
            <a:ext cx="11457432" cy="914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16002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이동 불가. 단 제자리에서
기본 공격·스킬 사용은 가능
매복자(폰)의 지뢰 밟을 때 발동
→ 이동을 봉인, 행동은 허용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4" y="1051560"/>
            <a:ext cx="3749039" cy="2606040"/>
          </a:xfrm>
          <a:prstGeom prst="rect">
            <a:avLst/>
          </a:prstGeom>
          <a:solidFill>
            <a:srgbClr val="161928"/>
          </a:solidFill>
          <a:ln w="1905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4" y="1051560"/>
            <a:ext cx="3749039" cy="45720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4" y="1124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FF"/>
                </a:solidFill>
                <a:latin typeface="Malgun Gothic"/>
              </a:rPr>
              <a:t>🤐 침묵 (Silence)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527048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4" y="16002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액티브 스킬 사용 봉인
이동·기본 공격은 정상 가능
마검사(나이트)의 SP 소각 공격
→ 스킬 기반 기물 카운터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749039" cy="2606040"/>
          </a:xfrm>
          <a:prstGeom prst="rect">
            <a:avLst/>
          </a:prstGeom>
          <a:solidFill>
            <a:srgbClr val="1619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3749039" cy="45720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67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🚫 무장해제 (Disarm)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7024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기본 공격 불가
이동·스킬 사용은 허용
평타 기반 딜러 특화 카운터
→ 스킬 기반 기물에게는 무해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7" y="3794760"/>
            <a:ext cx="3749039" cy="2606040"/>
          </a:xfrm>
          <a:prstGeom prst="rect">
            <a:avLst/>
          </a:prstGeom>
          <a:solidFill>
            <a:srgbClr val="16192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7" y="3794760"/>
            <a:ext cx="3749039" cy="45720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7" y="3867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Malgun Gothic"/>
              </a:rPr>
              <a:t>📢 도발 (Taunt)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7024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7" y="43434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적 AI 타겟팅 강제 오버라이드
사거리 내 도발 시전자를 1순위 공격 강제
점수 알고리즘을 무시하는 절대 Override
→ 방어대·광대(폰) 보유 스킬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4" y="3794760"/>
            <a:ext cx="3749039" cy="2606040"/>
          </a:xfrm>
          <a:prstGeom prst="rect">
            <a:avLst/>
          </a:prstGeom>
          <a:solidFill>
            <a:srgbClr val="16192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4" y="3794760"/>
            <a:ext cx="3749039" cy="45720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4" y="3867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Malgun Gothic"/>
              </a:rPr>
              <a:t>👻 은신 (Stealth)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70248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4" y="43434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렌더링 반투명 처리
적 타겟팅 대상 목록에서 강제 제외
단, 광역기·지형 기믹 피해는 그대로 수령
→ 선공 or 스킬 시전 즉시 해제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진영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3개 진영 (Faction Matrix)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5577840"/>
          </a:xfrm>
          <a:prstGeom prst="rect">
            <a:avLst/>
          </a:prstGeom>
          <a:solidFill>
            <a:srgbClr val="161928"/>
          </a:solidFill>
          <a:ln w="19050">
            <a:solidFill>
              <a:srgbClr val="7EB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EB85A"/>
                </a:solidFill>
                <a:latin typeface="Malgun Gothic"/>
              </a:rPr>
              <a:t>Faction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B85A"/>
                </a:solidFill>
                <a:latin typeface="Malgun Gothic"/>
              </a:rPr>
              <a:t>⚔  발할라 인더스트리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09928"/>
            <a:ext cx="1371600" cy="246888"/>
          </a:xfrm>
          <a:prstGeom prst="rect">
            <a:avLst/>
          </a:prstGeom>
          <a:solidFill>
            <a:srgbClr val="7EB85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282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C14"/>
                </a:solidFill>
                <a:latin typeface="Malgun Gothic"/>
              </a:rPr>
              <a:t>물리 / 넉백 특화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737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올리브 드랩 · 무광 강철 · 군사 중공업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11457432" cy="9144"/>
          </a:xfrm>
          <a:prstGeom prst="rect">
            <a:avLst/>
          </a:prstGeom>
          <a:solidFill>
            <a:srgbClr val="7E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75688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우월한 체급(무게)과 물리 엔진(넉백/그랩) 특화 진영.
압도적 화력과 물리력으로 전선을 밀어붙이고 낙사를 유도.
◆ 폰: 방어대 (두꺼운 강화 외골격 탱커)
◆ 룩: 집행관 (Grab CC) / 거신 (보스급 체급)
◆ 주력 전술: 적을 맵 가장자리로 몰아 Splat 극대화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7" y="1051560"/>
            <a:ext cx="3749039" cy="5577840"/>
          </a:xfrm>
          <a:prstGeom prst="rect">
            <a:avLst/>
          </a:prstGeom>
          <a:solidFill>
            <a:srgbClr val="1619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7" y="105156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0789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5FF"/>
                </a:solidFill>
                <a:latin typeface="Malgun Gothic"/>
              </a:rPr>
              <a:t>Faction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261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Malgun Gothic"/>
              </a:rPr>
              <a:t>🔮  에테르 학원도시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3127" y="1709928"/>
            <a:ext cx="1371600" cy="246888"/>
          </a:xfrm>
          <a:prstGeom prst="rect">
            <a:avLst/>
          </a:prstGeom>
          <a:solidFill>
            <a:srgbClr val="00E5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7" y="17282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C14"/>
                </a:solidFill>
                <a:latin typeface="Malgun Gothic"/>
              </a:rPr>
              <a:t>원소 / 상태이상 특화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7" y="1737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시안/화이트 · 테크웨어 · 홀로그램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11680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7" y="2075688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체급의 열세를 원소 반응과 상태이상 제어로 극복하는 진영.
광역 마법과 입자 이펙트로 게임의 비주얼을 견인.
◆ 비숍: 마도사 (체인 라이트닝) / 성역술사
◆ 퀸: 여제 (세계관 최강 단일 딜러)
◆ 주력 전술: 초전도(Def -40%) → 물리 덱 연계 크로스오버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4" y="1051560"/>
            <a:ext cx="3749039" cy="5577840"/>
          </a:xfrm>
          <a:prstGeom prst="rect">
            <a:avLst/>
          </a:prstGeom>
          <a:solidFill>
            <a:srgbClr val="161928"/>
          </a:solidFill>
          <a:ln w="1905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4" y="1051560"/>
            <a:ext cx="3749039" cy="594360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4" y="10789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59FF"/>
                </a:solidFill>
                <a:latin typeface="Malgun Gothic"/>
              </a:rPr>
              <a:t>Faction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4" y="1261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FF"/>
                </a:solidFill>
                <a:latin typeface="Malgun Gothic"/>
              </a:rPr>
              <a:t>🗡  네온 신디케이트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7614" y="1709928"/>
            <a:ext cx="1371600" cy="246888"/>
          </a:xfrm>
          <a:prstGeom prst="rect">
            <a:avLst/>
          </a:prstGeom>
          <a:solidFill>
            <a:srgbClr val="9B5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4" y="17282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C14"/>
                </a:solidFill>
                <a:latin typeface="Malgun Gothic"/>
              </a:rPr>
              <a:t>기동 / 암살 특화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4" y="1737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네온 그라피티 · 경량 기동 · 스트릿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011680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4" y="2075688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실행 속도 최고. 기동성으로 암살, 출혈, 중독으로 치고 빠지는 진영.
변수 창출 및 템포 우위 전략.
◆ 폰: 돌격대 (처치 시 AP +15 환불)
◆ 나이트: 검객 (2연타) / 환영기사 (위치 교환)
◆ 주력 전술: 은신 → 기습 → 치명타 + 출혈 지속 피해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AI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적 AI 의사결정 알고리즘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301752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FF"/>
                </a:solidFill>
                <a:latin typeface="Malgun Gothic"/>
              </a:rPr>
              <a:t>틱 단위 점수 기반 연산 (Scoring System)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828800" cy="347472"/>
          </a:xfrm>
          <a:prstGeom prst="rect">
            <a:avLst/>
          </a:prstGeom>
          <a:solidFill>
            <a:srgbClr val="1619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179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King 처치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517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  <a:latin typeface="Malgun Gothic"/>
              </a:rPr>
              <a:t>Kill Value +1000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51790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패배 조건 처치 = 최고 가치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47672"/>
            <a:ext cx="1828800" cy="347472"/>
          </a:xfrm>
          <a:prstGeom prst="rect">
            <a:avLst/>
          </a:prstGeom>
          <a:solidFill>
            <a:srgbClr val="1619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025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Queen 처치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002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Kill Value +50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2304"/>
            <a:ext cx="1828800" cy="347472"/>
          </a:xfrm>
          <a:prstGeom prst="rect">
            <a:avLst/>
          </a:prstGeom>
          <a:solidFill>
            <a:srgbClr val="1619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871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Pawn 처치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487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F9A"/>
                </a:solidFill>
                <a:latin typeface="Malgun Gothic"/>
              </a:rPr>
              <a:t>Kill Value +10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16936"/>
            <a:ext cx="1828800" cy="347472"/>
          </a:xfrm>
          <a:prstGeom prst="rect">
            <a:avLst/>
          </a:prstGeom>
          <a:solidFill>
            <a:srgbClr val="1619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AP 가중치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Malgun Gothic"/>
              </a:rPr>
              <a:t>Berserker/Tactician/Defensive 패턴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971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유닛 성향 ScriptableObject 기반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01568"/>
            <a:ext cx="1828800" cy="347472"/>
          </a:xfrm>
          <a:prstGeom prst="rect">
            <a:avLst/>
          </a:prstGeom>
          <a:solidFill>
            <a:srgbClr val="1619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564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7F9A"/>
                </a:solidFill>
                <a:latin typeface="Malgun Gothic"/>
              </a:rPr>
              <a:t>위치 가중치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456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Malgun Gothic"/>
              </a:rPr>
              <a:t>킹 보호 거리, Setup Kill 각도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45643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공간 위협 연산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0520"/>
            <a:ext cx="5486400" cy="2468880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757"/>
                </a:solidFill>
                <a:latin typeface="Malgun Gothic"/>
              </a:rPr>
              <a:t>절대 조건 트리거 (Override) — 점수 알고리즘을 무시하는 최우선 규칙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90288"/>
            <a:ext cx="1188720" cy="32004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63600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Checkmate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6360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적 킹 처치 각이 나왔다면, 모든 손해를 감수하고 즉시 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47488"/>
            <a:ext cx="1188720" cy="32004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9320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Danger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0932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AI 킹이 공격 범위에 들어오면, 즉시 킹 대피 or 방어벽 구축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504688"/>
            <a:ext cx="1188720" cy="32004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55040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Setup Kill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55504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넉백으로 Red Zone / 벽 충돌 Splat 유도 각이 보이면 즉시 실행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961888"/>
            <a:ext cx="1188720" cy="32004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00760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Taunted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60076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도발 CC 시전자 존재 시, 점수 알고리즘 무시 → 강제 공격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1051560"/>
            <a:ext cx="5760720" cy="557784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FF"/>
                </a:solidFill>
                <a:latin typeface="Malgun Gothic"/>
              </a:rPr>
              <a:t>적 AI 성향 프로파일 (Enemy AI Profile)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508760"/>
            <a:ext cx="5394960" cy="1508760"/>
          </a:xfrm>
          <a:prstGeom prst="rect">
            <a:avLst/>
          </a:prstGeom>
          <a:solidFill>
            <a:srgbClr val="121628"/>
          </a:solidFill>
          <a:ln w="1270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043"/>
                </a:solidFill>
                <a:latin typeface="Malgun Gothic"/>
              </a:rPr>
              <a:t>광전사 (Berserker)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194767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AP가 모이는 즉시 스킬 시전.
유저 진형 압박 우선.
생존보다 딜 출력 극대화.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3154680"/>
            <a:ext cx="5394960" cy="1508760"/>
          </a:xfrm>
          <a:prstGeom prst="rect">
            <a:avLst/>
          </a:prstGeom>
          <a:solidFill>
            <a:srgbClr val="1216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Malgun Gothic"/>
              </a:rPr>
              <a:t>전략가 (Tactician)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35935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AP를 철저히 보존.
퀸·주포 등 고비용 기물을
한 번에 가동하는 운영.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800600"/>
            <a:ext cx="5394960" cy="1508760"/>
          </a:xfrm>
          <a:prstGeom prst="rect">
            <a:avLst/>
          </a:prstGeom>
          <a:solidFill>
            <a:srgbClr val="1216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Malgun Gothic"/>
              </a:rPr>
              <a:t>수비형 (Defensive)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23951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'니가와(대기)' 전술 구사.
유저가 사거리 내 진입 시만
AP 소모해 카운터 공격.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64008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F9A"/>
                </a:solidFill>
                <a:latin typeface="Malgun Gothic"/>
              </a:rPr>
              <a:t>* 성향 데이터는 EnemyAIProfile ScriptableObject로 관리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solidFill>
            <a:srgbClr val="161405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  <a:latin typeface="Malgun Gothic"/>
              </a:rPr>
              <a:t>PART 1  ·  성장 메타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메타 성장 시스템 — 기보 &amp; 공명 &amp; 칙령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657600" cy="502920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Malgun Gothic"/>
              </a:rPr>
              <a:t>📖 기보 시스템 (Notation)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캐릭터의 체스 대국 퍼즐을 풀어
능력치를 해방하는 스킬 트리.
◆ TP (Tactical Point) 소모로
   체스판 위의 노드를 해금
◆ 기물 이동 타일의 스탯 획득
◆ 적 기물(노드) 처치 시 영구 스탯
◆ 체크메이트 = 궁극 패시브 해금
BM 설계:
인게임 재화만으로는 TP가
3~4개 부족하도록 의도 설계
→ '공명' 시스템으로 유도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931920" cy="502920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97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FF"/>
                </a:solidFill>
                <a:latin typeface="Malgun Gothic"/>
              </a:rPr>
              <a:t>🔗 공명 시스템 (Resonance)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81328"/>
            <a:ext cx="1005840" cy="320040"/>
          </a:xfrm>
          <a:prstGeom prst="rect">
            <a:avLst/>
          </a:prstGeom>
          <a:solidFill>
            <a:srgbClr val="1417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527048"/>
            <a:ext cx="9692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9FF"/>
                </a:solidFill>
                <a:latin typeface="Malgun Gothic"/>
              </a:rPr>
              <a:t>1단계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5179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전사 시 부활 대기 -10%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322576"/>
            <a:ext cx="1005840" cy="320040"/>
          </a:xfrm>
          <a:prstGeom prst="rect">
            <a:avLst/>
          </a:prstGeom>
          <a:solidFill>
            <a:srgbClr val="1417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368296"/>
            <a:ext cx="9692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9FF"/>
                </a:solidFill>
                <a:latin typeface="Malgun Gothic"/>
              </a:rPr>
              <a:t>2단계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359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전투 시작 SP 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163824"/>
            <a:ext cx="1005840" cy="320040"/>
          </a:xfrm>
          <a:prstGeom prst="rect">
            <a:avLst/>
          </a:prstGeom>
          <a:solidFill>
            <a:srgbClr val="160E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209544"/>
            <a:ext cx="9692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9FF"/>
                </a:solidFill>
                <a:latin typeface="Malgun Gothic"/>
              </a:rPr>
              <a:t>3단계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757"/>
                </a:solidFill>
                <a:latin typeface="Malgun Gothic"/>
              </a:rPr>
              <a:t>행동 소모 AP 영구 할인
폰 -1 / 나이트·비숍 -2 / 룩 -5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005072"/>
            <a:ext cx="1005840" cy="320040"/>
          </a:xfrm>
          <a:prstGeom prst="rect">
            <a:avLst/>
          </a:prstGeom>
          <a:solidFill>
            <a:srgbClr val="1417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4050792"/>
            <a:ext cx="9692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9FF"/>
                </a:solidFill>
                <a:latin typeface="Malgun Gothic"/>
              </a:rPr>
              <a:t>4단계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40416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상태이상 저항 +10%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846320"/>
            <a:ext cx="1005840" cy="320040"/>
          </a:xfrm>
          <a:prstGeom prst="rect">
            <a:avLst/>
          </a:prstGeom>
          <a:solidFill>
            <a:srgbClr val="1417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4892040"/>
            <a:ext cx="9692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9FF"/>
                </a:solidFill>
                <a:latin typeface="Malgun Gothic"/>
              </a:rPr>
              <a:t>5단계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882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제2재능(패시브) 최종 강화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051560"/>
            <a:ext cx="3474720" cy="5029200"/>
          </a:xfrm>
          <a:prstGeom prst="rect">
            <a:avLst/>
          </a:prstGeom>
          <a:solidFill>
            <a:srgbClr val="161928"/>
          </a:solidFill>
          <a:ln w="1270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Malgun Gothic"/>
              </a:rPr>
              <a:t>👑 칙령 시스템 (Edict)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481328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킹(마스터)만의 전용 모딩 시스템.
한정된 싱크로 수용량(Capacity)에
칙령 카드를 장착해 덱 방향성 확립.
◆ 절대 칙령 (1개):
   수용량을 오히려 늘리는
   최상위 코어 모드
   (워프레임의 Aura 모드)
◆ 일반 칙령:
   글로벌 / 클래스별 / 슈트 전용
   타겟팅으로 덱 시너지 집중
◆ 극성 배열:
   슬롯-카드 극성 일치 시
   비용 50% 절감 보너스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217920"/>
            <a:ext cx="11457432" cy="411480"/>
          </a:xfrm>
          <a:prstGeom prst="rect">
            <a:avLst/>
          </a:prstGeom>
          <a:solidFill>
            <a:srgbClr val="101322"/>
          </a:solidFill>
          <a:ln w="635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28192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7F9A"/>
                </a:solidFill>
                <a:latin typeface="Malgun Gothic"/>
              </a:rPr>
              <a:t>※ 졸업작품 범위: 기보·공명·칙령 시스템은 설계 구조(Calculator/Models/Runtime 클래스)까지 구현. 인게임 UI 연동은 추후 작업 예정.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46120"/>
            <a:ext cx="11457432" cy="27432"/>
          </a:xfrm>
          <a:prstGeom prst="rect">
            <a:avLst/>
          </a:prstGeom>
          <a:solidFill>
            <a:srgbClr val="00E5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61A2E"/>
                </a:solidFill>
                <a:latin typeface="Malgun Gothic"/>
              </a:rPr>
              <a:t>PART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algun Gothic"/>
              </a:rPr>
              <a:t>개발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E5FF"/>
                </a:solidFill>
                <a:latin typeface="Malgun Gothic"/>
              </a:rPr>
              <a:t>Development Status  ·  System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A7F9A"/>
                </a:solidFill>
                <a:latin typeface="Malgun Gothic"/>
              </a:rPr>
              <a:t>프랍 수량보다 시스템 백엔드 구현에 집중한 졸업작품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기술 스택 &amp; 프로젝트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466344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Malgun Gothic"/>
              </a:rPr>
              <a:t>기술 스택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1790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게임 엔진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51790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C842"/>
                </a:solidFill>
                <a:latin typeface="Malgun Gothic"/>
              </a:rPr>
              <a:t>Unity 6000.3.10f1 (최신 LTS)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65376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92024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렌더링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FF"/>
                </a:solidFill>
                <a:latin typeface="Malgun Gothic"/>
              </a:rPr>
              <a:t>Universal Render Pipeline (URP)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67712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32257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셰이더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32257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FF"/>
                </a:solidFill>
                <a:latin typeface="Malgun Gothic"/>
              </a:rPr>
              <a:t>Shader Graph (URP) — 수면 셰이더 제작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70048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72491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UI 텍스트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7249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TextMeshPro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72384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12724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입력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12724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Unity New Input 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74720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52958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데이터 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352958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  <a:latin typeface="Malgun Gothic"/>
              </a:rPr>
              <a:t>ScriptableObject (UnitData / EnemyAIProfile / PlayerDeckData)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77056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93192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패턴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931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  <a:latin typeface="Malgun Gothic"/>
              </a:rPr>
              <a:t>컴포넌트 기반 + 이벤트 버스 (EventBus&lt;T&gt;)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79392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33425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AI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33425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59FF"/>
                </a:solidFill>
                <a:latin typeface="Malgun Gothic"/>
              </a:rPr>
              <a:t>ActionBid 경쟁 입찰 시스템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81728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73659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결정론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47365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C842"/>
                </a:solidFill>
                <a:latin typeface="Malgun Gothic"/>
              </a:rPr>
              <a:t>SeededRandomProvider + Snapshot/Replay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084064"/>
            <a:ext cx="1371600" cy="329184"/>
          </a:xfrm>
          <a:prstGeom prst="rect">
            <a:avLst/>
          </a:prstGeom>
          <a:solidFill>
            <a:srgbClr val="12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13892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7F9A"/>
                </a:solidFill>
                <a:latin typeface="Malgun Gothic"/>
              </a:rPr>
              <a:t>버전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1389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Git (retshaft/Project_Chess_RPG)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1051560"/>
            <a:ext cx="5760720" cy="4663440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Malgun Gothic"/>
              </a:rPr>
              <a:t>주요 스크립트 폴더 구조 (Assets/Scripts/)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1481328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Courier New"/>
              </a:rPr>
              <a:t>Core/
  ├─ APManager.cs          ← 글로벌 AP 풀
  ├─ Actions/
  │    ├─ ActionScheduler.cs    ← 행동 큐
  │    ├─ InterruptArbitration  ← 인터럽트
  │    └─ ActionCostReservation ← AP 예약
  ├─ Effects/EffectSystem.cs   ← 상태이상
  ├─ Simulation/              ← 결정론
  └─ Prediction/              ← AI 예측
Grid/
  └─ GridSystem.cs   ← 8×8 보드 Singleton
Units/
  ├─ UnitBrain.cs    ← AI 의사결정 (37KB)
  └─ AITeamCommander.cs
MovementPatterns/
  └─ (6종 이동패턴 구현)
Components/
  ├─ HealthComponent
  ├─ MovementComponent
  ├─ CombatComponent
  └─ StatusEffectComponent (671줄)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806440"/>
            <a:ext cx="11457432" cy="822960"/>
          </a:xfrm>
          <a:prstGeom prst="rect">
            <a:avLst/>
          </a:prstGeom>
          <a:solidFill>
            <a:srgbClr val="10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70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~79KB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53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ActionRuntimeController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5870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~37KB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6153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UnitBrain (AI)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870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~25KB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6153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SimulationRuntime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870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~22KB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6153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EffectSystem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870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~14KB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6153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PredictionPipeline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5870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671줄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6153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StatusEffectComponent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AP &amp; Action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AP Manager · ActionScheduler · Interrupt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256032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Malgun Gothic"/>
              </a:rPr>
              <a:t>APManager.cs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CC71"/>
                </a:solidFill>
                <a:latin typeface="Courier New"/>
              </a:rPr>
              <a:t>// 글로벌 AP 풀 — Singleton 패턴
public class APManager : MonoBehaviour {
  float _current, _max = 100f;
  const float REGEN_RATE = 4f; // /sec
  void Update() {
    _current = Mathf.Min(
      _current + REGEN_RATE * Time.deltaTime,
      _max);
    EventBus.Publish(new APChangedEvent(...));
  }
  public bool TrySpend(float cost, ...) {
    if (_current &lt; cost) {
      EventBus.Publish(new InsufficientAPEvent);
      return false;
    }
    _current -= cost;
    return true;
  }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51560"/>
            <a:ext cx="3840480" cy="256032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Malgun Gothic"/>
              </a:rPr>
              <a:t>ActionScheduler.cs  (~27KB)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행동 큐 관리 + AP 비용 예약 시스템
흐름:
TryEnqueueMove / TryEnqueueAttack
  → ActionCostReservation (AP 검증)
  → ActionQueue에 삽입
  → Executing 상태로 전환
  → Resolve → Recovery → Complete
SP (Skill Points):
AP와 독립적으로 자동 회복.
스킬 시전 시 SP 소모.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051560"/>
            <a:ext cx="3520440" cy="2560320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0972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757"/>
                </a:solidFill>
                <a:latin typeface="Malgun Gothic"/>
              </a:rPr>
              <a:t>Interrupt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417320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Hard Interrupt:
  Death / Stun / Freeze
  → 현재 행동 즉시 Cancel
Soft Interrupt:
  Knockback / Slow
  → 행동 지연 or 일부 변경
동일 Tick 충돌 우선순위:
  Critical &gt; Major &gt; Minor
  → Action Speed → Queue Order
Scheduler만 상태 변경 가능.
직접 Cancel() 호출 금지.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1457432" cy="1325880"/>
          </a:xfrm>
          <a:prstGeom prst="rect">
            <a:avLst/>
          </a:prstGeom>
          <a:solidFill>
            <a:srgbClr val="1013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Malgun Gothic"/>
              </a:rPr>
              <a:t>Action 상태 흐름도 (Action State Flow)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1920240" cy="502920"/>
          </a:xfrm>
          <a:prstGeom prst="rect">
            <a:avLst/>
          </a:prstGeom>
          <a:solidFill>
            <a:srgbClr val="141828"/>
          </a:solidFill>
          <a:ln w="1270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696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A7F9A"/>
                </a:solidFill>
                <a:latin typeface="Malgun Gothic"/>
              </a:rPr>
              <a:t>Queued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87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7F9A"/>
                </a:solidFill>
                <a:latin typeface="Malgun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4114800"/>
            <a:ext cx="1920240" cy="502920"/>
          </a:xfrm>
          <a:prstGeom prst="rect">
            <a:avLst/>
          </a:prstGeom>
          <a:solidFill>
            <a:srgbClr val="1418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41696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  <a:latin typeface="Malgun Gothic"/>
              </a:rPr>
              <a:t>Executing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187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7F9A"/>
                </a:solidFill>
                <a:latin typeface="Malgun Gothic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4114800"/>
            <a:ext cx="1920240" cy="502920"/>
          </a:xfrm>
          <a:prstGeom prst="rect">
            <a:avLst/>
          </a:prstGeom>
          <a:solidFill>
            <a:srgbClr val="1418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41696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  <a:latin typeface="Malgun Gothic"/>
              </a:rPr>
              <a:t>Resolving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87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7F9A"/>
                </a:solidFill>
                <a:latin typeface="Malgun Gothic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4114800"/>
            <a:ext cx="1920240" cy="502920"/>
          </a:xfrm>
          <a:prstGeom prst="rect">
            <a:avLst/>
          </a:prstGeom>
          <a:solidFill>
            <a:srgbClr val="1418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41696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842"/>
                </a:solidFill>
                <a:latin typeface="Malgun Gothic"/>
              </a:rPr>
              <a:t>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187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7F9A"/>
                </a:solidFill>
                <a:latin typeface="Malgun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4114800"/>
            <a:ext cx="1920240" cy="502920"/>
          </a:xfrm>
          <a:prstGeom prst="rect">
            <a:avLst/>
          </a:prstGeom>
          <a:solidFill>
            <a:srgbClr val="1418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416966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  <a:latin typeface="Malgun Gothic"/>
              </a:rPr>
              <a:t>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8172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Interrupt 발생 시:  Executing → Interrupted → Cancelled
Resolve 단계 진입 후: 취소 불가 (데미지 판정 이후 결과 보장)
Tick 처리 순서: ① Tick Advance  ② Action Update  ③ Interrupt Check  ④ Resolve Queue  ⑤ Effect Tick  ⑥ Death Check  ⑦ Event Dispatch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76672"/>
            <a:ext cx="11457432" cy="123444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13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Malgun Gothic"/>
              </a:rPr>
              <a:t>▼ 실제 구현 화면</a:t>
            </a:r>
          </a:p>
        </p:txBody>
      </p:sp>
      <p:pic>
        <p:nvPicPr>
          <p:cNvPr id="35" name="Picture 34" descr="Initialize_Phase_Place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687568"/>
            <a:ext cx="5029200" cy="8686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77840" y="5413248"/>
            <a:ext cx="6217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좌: 배틀 초기화 단계 — 덱(Queen/Rook/Bishop/Pawn/King) 배치 및 START BATTLE 버튼
AP 게이지(우측 하단 시안색 바)와 Move / Attack / Skill 버튼 UI 확인 가능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체스 이동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체스 이동 패턴 구현 — IMovePattern 인터페이스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4572000" cy="210312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IMovePattern.cs — 이동 패턴 인터페이스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CC71"/>
                </a:solidFill>
                <a:latin typeface="Courier New"/>
              </a:rPr>
              <a:t>public interface IMovePattern {
  // 이동 가능한 셀 목록 반환
  List&lt;Vector2Int&gt; GetMovableCells(
    Vector2Int pos,
    IReadOnlyGridSystem grid,
    TeamComponent team);
  // 공격 가능한 셀 목록 반환  
  List&lt;Vector2Int&gt; GetAttackCells(
    Vector2Int pos,
    IReadOnlyGridSystem grid,
    TeamComponent team);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051560"/>
            <a:ext cx="3657600" cy="210312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097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Malgun Gothic"/>
              </a:rPr>
              <a:t>MovePatternFactory.cs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8988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CC71"/>
                </a:solidFill>
                <a:latin typeface="Courier New"/>
              </a:rPr>
              <a:t>public static IMovePattern Create(
    PieceClass pieceClass) {
  return pieceClass switch {
    PieceClass.Pawn   =&gt;
        new PawnMovePattern(),
    PieceClass.Knight =&gt;
        new KnightMovePattern(),
    PieceClass.Bishop =&gt;
        new SlidingMovePattern(
            SlidingMode.Diagonal),
    PieceClass.Rook =&gt;
        new SlidingMovePattern(
            SlidingMode.Orthogonal),
    PieceClass.Queen =&gt;
        new SlidingMovePattern(
            SlidingMode.All),
    PieceClass.King =&gt;
        new KingMovePattern(),
    _ =&gt; throw new ...
  };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051560"/>
            <a:ext cx="2834640" cy="210312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FF"/>
                </a:solidFill>
                <a:latin typeface="Malgun Gothic"/>
              </a:rPr>
              <a:t>구현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389888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PawnMovePattern:
• 전진(직선) / 공격(대각선) 분리
• 첫 이동 2칸 특례 처리
SlidingMovePattern:
• Bishop/Rook/Queen 공통 사용
• 방향별 루프 + 기물 충돌 차단
• IReadOnlyGridSystem으로 의존성 최소화
KnightMovePattern:
• L자 8방향 하드코딩
• 점프 특성상 충돌 무시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1457432" cy="338328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▼ 이동 타일 마킹 구현 스크린샷</a:t>
            </a:r>
          </a:p>
        </p:txBody>
      </p:sp>
      <p:pic>
        <p:nvPicPr>
          <p:cNvPr id="18" name="Picture 17" descr="Marking_Movable_Tiles_When_C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11880"/>
            <a:ext cx="3657600" cy="2743200"/>
          </a:xfrm>
          <a:prstGeom prst="rect">
            <a:avLst/>
          </a:prstGeom>
        </p:spPr>
      </p:pic>
      <p:pic>
        <p:nvPicPr>
          <p:cNvPr id="19" name="Picture 18" descr="Marking_Movable_Tiles_When_Click02_Bi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611880"/>
            <a:ext cx="3657600" cy="2743200"/>
          </a:xfrm>
          <a:prstGeom prst="rect">
            <a:avLst/>
          </a:prstGeom>
        </p:spPr>
      </p:pic>
      <p:pic>
        <p:nvPicPr>
          <p:cNvPr id="20" name="Picture 19" descr="Marking_Attackable_Tiles_Bi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611880"/>
            <a:ext cx="36576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63825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폰 이동 — Pawn 클릭 시 이동 가능 타일
시안색 윤곽선으로 하이라이팅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63825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비숍 이동 — 대각선 슬라이딩 패턴
AP 87/100 소모 확인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63825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비숍 공격 — 공격 가능 타일
붉은색 윤곽선으로 구분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상태이상 &amp; 원소 반응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StatusEffectComponent &amp; ReactionSystem 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4114800" cy="502920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FF"/>
                </a:solidFill>
                <a:latin typeface="Malgun Gothic"/>
              </a:rPr>
              <a:t>StatusEffectComponent.cs  (671줄)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043"/>
                </a:solidFill>
                <a:latin typeface="Malgun Gothic"/>
              </a:rPr>
              <a:t>[ 물리 상태이상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Stagger (비틀거림) — 넉백 거리 +1칸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Bleed (출혈) — n중첩, 행동마다 고정 피해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94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Wound (부상) — 이동 AP +20%, 행동 속도 저하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GrabVulnerability — Grab 적중 시 치명타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529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Malgun Gothic"/>
              </a:rPr>
              <a:t>[ 원소 DoT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272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Burn (화상) — 지속 마법 피해 + Res 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Ignite (발화) — DoT + 주변 화염 장판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3931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Chill (한기) — 전 행동 AP +20%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Freeze (빙결) — 전 행동 봉쇄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5137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Poison (중독) — 틱 마법 피해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0740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Virus (바이러스) — 전염 중독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548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Malgun Gothic"/>
              </a:rPr>
              <a:t>[ 반응 결과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Superconduct — Def -40%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8523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Overload — Atk -25%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4126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Paralysis — 공격/이동 봉인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9729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  • FrozenBossDebuff — Def/Res -25%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051560"/>
            <a:ext cx="7132320" cy="502920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09728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Malgun Gothic"/>
              </a:rPr>
              <a:t>ReactionSystem.cs — 원소 반응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4173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CC71"/>
                </a:solidFill>
                <a:latin typeface="Courier New"/>
              </a:rPr>
              <a:t>public class ReactionSystem {
  // 원소 태그 적용 시 반응 체크
  public void ApplyElement(
      UnitRuntimeState target,
      ElementType incoming) {
    var existing = target.CurrentElement;
    var reaction = ReactionTable
        .Lookup(existing, incoming);
    if (reaction == null) {
      target.CurrentElement = incoming;
      return;
    }
    // 반응 실행
    ExecuteReaction(target, reaction);
    target.CurrentElement = ElementType.None;
  }
  private void ExecuteReaction(
      UnitRuntimeState t,
      ReactionData r) {
    // 즉시 피해
    if (r.ImmediateDamage &gt; 0)
      DealMagicDamage(t, r.ImmediateDamage);
    // 상태이상 부여
    if (r.StatusEffect != null)
      StatusEffectSystem.Apply(
          t, r.StatusEffect);
    // 스탯 변경
    if (r.DefModifier != 0)
      t.ApplyStatModifier(
          StatType.Defense, r.DefModifier);
  }
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172200"/>
            <a:ext cx="11457432" cy="502920"/>
          </a:xfrm>
          <a:prstGeom prst="rect">
            <a:avLst/>
          </a:prstGeom>
          <a:solidFill>
            <a:srgbClr val="101322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236208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구현 현황:  물리 상태이상 4종  ·  원소 DoT 6종  ·  원소 반응 결과 4종  ·  총 14개 상태이상 클래스  |  반응 테이블 13개 조합 정의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AI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AI 시스템 — ActionBid 경쟁 입찰 &amp; UnitBrain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029200" cy="256032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B59FF"/>
                </a:solidFill>
                <a:latin typeface="Malgun Gothic"/>
              </a:rPr>
              <a:t>UnitBrain.cs (~37KB, ~962줄) — 유닛 AI 의사결정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4663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Courier New"/>
              </a:rPr>
              <a:t>DecideBestAction() 호출
  ①  Checkmate Override 체크
       └─ 적 킹 처치 가능? → 즉시 실행 (Score +1000)
  ②  Danger Override 체크
       └─ 아군 킹 위협받음? → 킹 대피 or 방어 폰 배치
  ③  모든 공격 대상 점수 계산
       └─ KillValue(처치 시 점수) + AP 가중치 + 킹 거리
  ④  모든 이동 목적지 점수 계산
       └─ 공격 사거리 확보 + 킹 안전거리 유지
  ⑤  최고 점수 ActionBid 제출 → AITeamCommander 수집
  ⑥  AP 예산 내 최우선 Bid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051560"/>
            <a:ext cx="6217920" cy="256032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0972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Malgun Gothic"/>
              </a:rPr>
              <a:t>ActionBid.cs — 점수 입찰 구조체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389888"/>
            <a:ext cx="5943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CC71"/>
                </a:solidFill>
                <a:latin typeface="Courier New"/>
              </a:rPr>
              <a:t>public struct ActionBid {
  public UnitBrain Bidder;
  public ActionType ActionType;
  // MOVE / ATTACK / SKILL
  public float Score;    // 높을수록 우선
  public float APCost;   // 소모 AP
  public Vector2Int TargetCell;
  public UnitBrain TargetUnit;
  // 정렬: Score 내림차순
  public int CompareTo(ActionBid other)
    =&gt; other.Score.CompareTo(Score);
}
// AITeamCommander에서 수집 후 실행
var bids = units.Select(u =&gt; u.GetBestBid())
               .OrderByDescending(b =&gt; b.Score);
foreach (var bid in bids) {
  if (availableAP &gt;= bid.APCost)
    ExecuteBid(bid);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5029200" cy="292608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Malgun Gothic"/>
              </a:rPr>
              <a:t>점수 가중치 상세 (Score Weights)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King 처치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57"/>
                </a:solidFill>
                <a:latin typeface="Malgun Gothic"/>
              </a:rPr>
              <a:t>+1000 + LethalBonus + KingTargetBonus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Queen 처치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+50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부상 대상 처치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7043"/>
                </a:solidFill>
                <a:latin typeface="Malgun Gothic"/>
              </a:rPr>
              <a:t>+부상도 비례 추가 보너스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치명타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7043"/>
                </a:solidFill>
                <a:latin typeface="Malgun Gothic"/>
              </a:rPr>
              <a:t>+LethabilityBonus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AP 가중치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760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FF"/>
                </a:solidFill>
                <a:latin typeface="Malgun Gothic"/>
              </a:rPr>
              <a:t>유닛 성향(Berserker/Tactician/Defensive)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킹 안전 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6172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A7F9A"/>
                </a:solidFill>
                <a:latin typeface="Malgun Gothic"/>
              </a:rPr>
              <a:t>킹으로부터 멀수록 Danger 패널티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703320"/>
            <a:ext cx="6217920" cy="2926080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374903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Malgun Gothic"/>
              </a:rPr>
              <a:t>PredictionPipeline — AI 시뮬레이션 선예측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096512"/>
            <a:ext cx="5852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AI가 행동 실행 전 결과를 미리 시뮬레이션.
PredictionQueryService:
• 예측 피해량 (Predicted Damage)
• 예측 사망 여부 (WillDie)
• 예측 넉백 목적지 (Knockback Target Cell)
AIPredictionAdapter:
AI가 PredictionPipeline 결과를
점수 계산에 반영.
GridPathfinder:
• A* / BFS로 이동 경로 탐색
• 점유 상태 반영한 최단 경로 계산
• AP 예산 내 도달 가능 거리 필터링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Replay &amp; 결정론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결정론적 시뮬레이션 &amp; Replay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228600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842"/>
                </a:solidFill>
                <a:latin typeface="Malgun Gothic"/>
              </a:rPr>
              <a:t>SeededRandomProvider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모든 RNG를 고정 시드(Seed)로 초기화.
동일 시드 → 동일 결과 보장.
멀티플레이 동기화 및 리플레이 재현의 기반.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051560"/>
            <a:ext cx="3749039" cy="2286000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14300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  <a:latin typeface="Malgun Gothic"/>
              </a:rPr>
              <a:t>SimulationSnapshot.cs (~21KB)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63040"/>
            <a:ext cx="1145743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27048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전투 상태 전체를 직렬화.
매 Tick마다 상태 스냅샷 저장.
포함 내용:
• 모든 유닛 위치·HP·AP·상태이상
• 타일 상태
• 글로벌 AP 값
• 행동 큐 상태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051560"/>
            <a:ext cx="3474720" cy="2286000"/>
          </a:xfrm>
          <a:prstGeom prst="rect">
            <a:avLst/>
          </a:prstGeom>
          <a:solidFill>
            <a:srgbClr val="1619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Malgun Gothic"/>
              </a:rPr>
              <a:t>SnapshotDiffUtility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463040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527048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두 스냅샷 간 차이 비교.
동기화 발산(Divergence) 자동 감지.
발산 시 경고 로그 + 진단 출력.
SimulationDivergenceTests로
자동화 테스트 커버리지 포함.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29000"/>
            <a:ext cx="3749039" cy="182880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204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B59FF"/>
                </a:solidFill>
                <a:latin typeface="Malgun Gothic"/>
              </a:rPr>
              <a:t>ReplayRecorder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11457432" cy="9144"/>
          </a:xfrm>
          <a:prstGeom prst="rect">
            <a:avLst/>
          </a:prstGeom>
          <a:solidFill>
            <a:srgbClr val="9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04488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모든 행동 이벤트를 타임라인에 기록.
SimulationTimelineRecorder:
전체 전투 이벤트 연대기 저장.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429000"/>
            <a:ext cx="3749039" cy="1828800"/>
          </a:xfrm>
          <a:prstGeom prst="rect">
            <a:avLst/>
          </a:prstGeom>
          <a:solidFill>
            <a:srgbClr val="161928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5204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57"/>
                </a:solidFill>
                <a:latin typeface="Malgun Gothic"/>
              </a:rPr>
              <a:t>ReplayValidationService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40480"/>
            <a:ext cx="11457432" cy="914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904488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리플레이 재생 시 결과가 동일한지
원본과 검증.
디버깅·QA 용도로 활용.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429000"/>
            <a:ext cx="3474720" cy="1828800"/>
          </a:xfrm>
          <a:prstGeom prst="rect">
            <a:avLst/>
          </a:prstGeom>
          <a:solidFill>
            <a:srgbClr val="161928"/>
          </a:solidFill>
          <a:ln w="1270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A820"/>
                </a:solidFill>
                <a:latin typeface="Malgun Gothic"/>
              </a:rPr>
              <a:t>APDebugUI.cs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40480"/>
            <a:ext cx="11457432" cy="9144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904488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Malgun Gothic"/>
              </a:rPr>
              <a:t>런타임 AP 상태를
실시간 오버레이로 표시.
개발 중 AP 흐름 시각화 도구.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49240"/>
            <a:ext cx="11457432" cy="1280160"/>
          </a:xfrm>
          <a:prstGeom prst="rect">
            <a:avLst/>
          </a:prstGeom>
          <a:solidFill>
            <a:srgbClr val="0F142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Malgun Gothic"/>
              </a:rPr>
              <a:t>💡 이 시스템이 중요한 이유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150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F9A"/>
                </a:solidFill>
                <a:latin typeface="Malgun Gothic"/>
              </a:rPr>
              <a:t>실시간 전술 게임에서 결정론적 시뮬레이션 구현은 매우 높은 기술 난이도를 요구합니다.
SeededRNG + Snapshot 기반의 리플레이 검증 시스템은 졸업작품 수준을 넘어서는 '네트워크 동기화 준비 완료 아키텍처'입니다.
향후 멀티플레이 확장 시, 이 시스템이 락스텝(Lock-step) 동기화의 기반이 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씬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씬 구성 &amp; 인게임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029200" cy="822960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Malgun Gothic"/>
              </a:rPr>
              <a:t>BattleTest Scene — 현재 테스트 씬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Courier New"/>
              </a:rPr>
              <a:t>Hierarchy: Main Camera / Directional Light / TestSceneBattleManager / Plane / WaterPlane / GridSystem / GlobalAPManager</a:t>
            </a:r>
          </a:p>
        </p:txBody>
      </p:sp>
      <p:pic>
        <p:nvPicPr>
          <p:cNvPr id="10" name="Picture 9" descr="Chessboard_Tiles_Ruins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50292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230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◀  폐허 느낌의 타일 텍스처 + URP 수면 셰이더 적용 체스보드
(Scene View 상단 / Game View 하단 동시 표시)</a:t>
            </a:r>
          </a:p>
        </p:txBody>
      </p:sp>
      <p:pic>
        <p:nvPicPr>
          <p:cNvPr id="12" name="Picture 11" descr="Initialize_Phase_Place_Un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51560"/>
            <a:ext cx="6126480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4407408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▲  초기화 단계 — 배치 UI
하단 바: Queen(5)/Rook(4)/Bishop(3)/Rook(3)/Pawn×3/King(3) 배치 슬롯
녹색 격자: 아군 배치 가능 영역  ·  핑크 점: 커서 위치
AP 게이지(시안색 바) + START BATTLE 버튼</a:t>
            </a:r>
          </a:p>
        </p:txBody>
      </p:sp>
      <p:pic>
        <p:nvPicPr>
          <p:cNvPr id="14" name="Picture 13" descr="Water_Shader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5120640"/>
            <a:ext cx="3474720" cy="1508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35440" y="5120640"/>
            <a:ext cx="2560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▲  Water Shader Graph
노드: WaterNormal / Speed_A,B / Tiling / Smoothness / Shallow/Deep Color / FoamTex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에셋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제작 에셋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743200" cy="5212080"/>
          </a:xfrm>
          <a:prstGeom prst="rect">
            <a:avLst/>
          </a:prstGeom>
          <a:solidFill>
            <a:srgbClr val="161928"/>
          </a:solidFill>
          <a:ln w="1270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FF"/>
                </a:solidFill>
                <a:latin typeface="Malgun Gothic"/>
              </a:rPr>
              <a:t>캐릭터 베이스 (제작 중)</a:t>
            </a:r>
          </a:p>
        </p:txBody>
      </p:sp>
      <p:pic>
        <p:nvPicPr>
          <p:cNvPr id="9" name="Picture 8" descr="CharacterBase_LowPoly_unfinis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256032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407408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3~4등신 SD 비율 캐릭터 베이스
Blender 로우폴리 모델링 진행 중
현재 상태: 와이어프레임 단계
• 머리카락 메시 구조 작업 중
• 손(총기 파지) 부위 UV 정리 중
• 텍스처 미적용 상태
GDD 기준 각 직군별 특징 무기·
프랍을 추가로 작업 예정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51560"/>
            <a:ext cx="2697480" cy="521208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097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Prop01 — 깃발 (Flag)</a:t>
            </a:r>
          </a:p>
        </p:txBody>
      </p:sp>
      <p:pic>
        <p:nvPicPr>
          <p:cNvPr id="13" name="Picture 12" descr="Prop01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417320"/>
            <a:ext cx="25146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4407408"/>
            <a:ext cx="2423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군사 깃발 프랍
진지/점령 지점 표시용
포탑 포함 일체형 구조
Blender 완성 상태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51560"/>
            <a:ext cx="2697480" cy="521208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97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Prop02 — 포탑 (Turret)</a:t>
            </a:r>
          </a:p>
        </p:txBody>
      </p:sp>
      <p:pic>
        <p:nvPicPr>
          <p:cNvPr id="17" name="Picture 16" descr="Prop02_Turr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2514600" cy="2926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4407408"/>
            <a:ext cx="2423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방어형 자동 포탑 프랍
로봇 카메라 형태 디자인
포탑 기물 시각화 목적
Blender 완성 상태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051560"/>
            <a:ext cx="2697480" cy="521208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097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Prop03A — 바리케이드</a:t>
            </a:r>
          </a:p>
        </p:txBody>
      </p:sp>
      <p:pic>
        <p:nvPicPr>
          <p:cNvPr id="21" name="Picture 20" descr="Prop03_Barric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417320"/>
            <a:ext cx="2514600" cy="2926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44000" y="4407408"/>
            <a:ext cx="2423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이동 제한 장벽 프랍
콘크리트 블록 형태
Blender 완성 상태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355080"/>
            <a:ext cx="11457432" cy="274320"/>
          </a:xfrm>
          <a:prstGeom prst="rect">
            <a:avLst/>
          </a:prstGeom>
          <a:solidFill>
            <a:srgbClr val="101322"/>
          </a:solidFill>
          <a:ln w="635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391656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F9A"/>
                </a:solidFill>
                <a:latin typeface="Malgun Gothic"/>
              </a:rPr>
              <a:t>Prop03B — 철조망(Wire Entanglement)도 제작 완료. 전체 프랍 수량: 캐릭터 베이스 1종(진행 중) + 완성 프랍 4종 (Flag / Turret / Barricade / Wire)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진행도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구현 진행도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15568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CC71"/>
                </a:solidFill>
                <a:latin typeface="Malgun Gothic"/>
              </a:rPr>
              <a:t>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247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AP 경제 시스템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143000"/>
            <a:ext cx="5325008" cy="228600"/>
          </a:xfrm>
          <a:prstGeom prst="rect">
            <a:avLst/>
          </a:prstGeom>
          <a:solidFill>
            <a:srgbClr val="2ECC7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7232" y="11155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  <a:latin typeface="Malgun Gothic"/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11556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글로벌 AP풀·자연회복·소모·부족 피드백·Debug UI 완전 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72768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591056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CC71"/>
                </a:solidFill>
                <a:latin typeface="Malgun Gothic"/>
              </a:rPr>
              <a:t>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체스 이동 패턴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618488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618488"/>
            <a:ext cx="5044744" cy="228600"/>
          </a:xfrm>
          <a:prstGeom prst="rect">
            <a:avLst/>
          </a:prstGeom>
          <a:solidFill>
            <a:srgbClr val="2ECC7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159105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  <a:latin typeface="Malgun Gothic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59105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6직군 Pawn/Knight/Bishop/Rook/Queen/King 완전 구현·점유 연동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48256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066544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CC71"/>
                </a:solidFill>
                <a:latin typeface="Malgun Gothic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0756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Replay / Debug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93976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2093976"/>
            <a:ext cx="4764481" cy="228600"/>
          </a:xfrm>
          <a:prstGeom prst="rect">
            <a:avLst/>
          </a:prstGeom>
          <a:solidFill>
            <a:srgbClr val="2ECC7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206654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  <a:latin typeface="Malgun Gothic"/>
              </a:rPr>
              <a:t>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06654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Snapshot·Replay 검증·발산 감지·Diagnostics 오버레이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23744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542032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25511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Action Runtime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569464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569464"/>
            <a:ext cx="3923690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7232" y="25420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5420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ActionScheduler·비용 예약·인터럽트·SP 자동 회복 구조 구현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999232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017520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026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전투 루프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3044952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3044952"/>
            <a:ext cx="3643426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57232" y="3017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65%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30175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BattleTest 씬·부트스트랩 구조·승패 조건 검증 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474720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3493008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5021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넉백 / Splat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3520440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60520" y="3520440"/>
            <a:ext cx="3363163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57232" y="34930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60%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49300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Knockback·Grab·Splat·충돌 처리 구조 구현·시각 예측 보강 필요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950208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3968496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3977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원소/상태이상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3995928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60520" y="3995928"/>
            <a:ext cx="3082899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57232" y="39684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55%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396849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Burn·Chill·Freeze·Superconduct·Poison·Virus·Stagger 구조 구현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425696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4443984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" y="4453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AI 시스템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4471416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60520" y="4471416"/>
            <a:ext cx="2802636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57232" y="444398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50%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444398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ActionBid·AP 고려·킹 가치·점수화 흐름·시연 품질 조정 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901184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" y="4919472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49286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예측 / UI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60520" y="4946904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60520" y="4946904"/>
            <a:ext cx="2522372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57232" y="49194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45%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491947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Prediction 런타임·Battle selection overlay·Ghosting UI 보강 필요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376672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4048" y="5394960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4757"/>
                </a:solidFill>
                <a:latin typeface="Malgun Gothic"/>
              </a:rPr>
              <a:t>미시작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71600" y="5404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최종 아트 / UI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60520" y="5422392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60520" y="5422392"/>
            <a:ext cx="280263" cy="228600"/>
          </a:xfrm>
          <a:prstGeom prst="rect">
            <a:avLst/>
          </a:prstGeom>
          <a:solidFill>
            <a:srgbClr val="FF475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57232" y="5394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57"/>
                </a:solidFill>
                <a:latin typeface="Malgun Gothic"/>
              </a:rPr>
              <a:t>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32520" y="53949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캐릭터 3D 모델·텍스처·애니메이션·최종 전투 UI 미작업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852160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4048" y="5870448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5879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캐릭터 모델링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60520" y="5897880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60520" y="5897880"/>
            <a:ext cx="1121054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57232" y="587044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20%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32520" y="58704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SD 베이스 바디 로우폴리 작업 중 (Blender)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6327648"/>
            <a:ext cx="914400" cy="274320"/>
          </a:xfrm>
          <a:prstGeom prst="rect">
            <a:avLst/>
          </a:prstGeom>
          <a:solidFill>
            <a:srgbClr val="1418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4048" y="6345936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842"/>
                </a:solidFill>
                <a:latin typeface="Malgun Gothic"/>
              </a:rPr>
              <a:t>진행 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600" y="6355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프랍 에셋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60520" y="6373368"/>
            <a:ext cx="5605272" cy="228600"/>
          </a:xfrm>
          <a:prstGeom prst="rect">
            <a:avLst/>
          </a:prstGeom>
          <a:solidFill>
            <a:srgbClr val="18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160520" y="6373368"/>
            <a:ext cx="2802636" cy="228600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857232" y="63459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C842"/>
                </a:solidFill>
                <a:latin typeface="Malgun Gothic"/>
              </a:rPr>
              <a:t>50%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32520" y="634593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F9A"/>
                </a:solidFill>
                <a:latin typeface="Malgun Gothic"/>
              </a:rPr>
              <a:t>Flag / Turret / Barricade / Wire 4종 완성, 추가 프랍 예정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마일스톤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개발 마일스톤 &amp;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600200" cy="548640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69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C14"/>
                </a:solidFill>
                <a:latin typeface="Malgun Gothic"/>
              </a:rPr>
              <a:t>M0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C14"/>
                </a:solidFill>
                <a:latin typeface="Malgun Gothic"/>
              </a:rPr>
              <a:t>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Malgun Gothic"/>
              </a:rPr>
              <a:t>환경 구축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1600200" cy="4709160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75688"/>
            <a:ext cx="1463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• 8×8 GridSystem Singleton
• BattleTest 씬 구성
• 유닛 점유 추적 시스템
• ScriptableObject 데이터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9112" y="1051560"/>
            <a:ext cx="1600200" cy="548640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2" y="1069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C14"/>
                </a:solidFill>
                <a:latin typeface="Malgun Gothic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1325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C14"/>
                </a:solidFill>
                <a:latin typeface="Malgun Gothic"/>
              </a:rPr>
              <a:t>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Malgun Gothic"/>
              </a:rPr>
              <a:t>AP 경제 구현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9112" y="2011680"/>
            <a:ext cx="1600200" cy="4709160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0552" y="2075688"/>
            <a:ext cx="1463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• APManager 글로벌 풀
• +4 AP/sec 자연 회복
• 행동 비용 소모·차단
• AP 부족 피드백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2464" y="1051560"/>
            <a:ext cx="1600200" cy="548640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58184" y="1069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C14"/>
                </a:solidFill>
                <a:latin typeface="Malgun Gothic"/>
              </a:rPr>
              <a:t>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4" y="1325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C14"/>
                </a:solidFill>
                <a:latin typeface="Malgun Gothic"/>
              </a:rPr>
              <a:t>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Malgun Gothic"/>
              </a:rPr>
              <a:t>체스 이동 규칙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12464" y="2011680"/>
            <a:ext cx="1600200" cy="4709160"/>
          </a:xfrm>
          <a:prstGeom prst="rect">
            <a:avLst/>
          </a:prstGeom>
          <a:solidFill>
            <a:srgbClr val="1619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3904" y="2075688"/>
            <a:ext cx="1463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• IMovePattern 인터페이스
• 6직군 이동 패턴 구현
• 전원 배치 시작 시스템
• 이동 타일 마킹 오버레이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85816" y="1051560"/>
            <a:ext cx="1600200" cy="548640"/>
          </a:xfrm>
          <a:prstGeom prst="rect">
            <a:avLst/>
          </a:prstGeom>
          <a:solidFill>
            <a:srgbClr val="14182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6" y="1069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842"/>
                </a:solidFill>
                <a:latin typeface="Malgun Gothic"/>
              </a:rPr>
              <a:t>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1325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진행 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842"/>
                </a:solidFill>
                <a:latin typeface="Malgun Gothic"/>
              </a:rPr>
              <a:t>타일 &amp; 상태이상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85816" y="2011680"/>
            <a:ext cx="1600200" cy="470916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77256" y="2075688"/>
            <a:ext cx="1463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• Swamp/Spikes/Sanctuary
• 상태이상 프레임워크
• 원소 반응 2~3개 완성
• 타일 시각 이펙트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59168" y="1051560"/>
            <a:ext cx="1600200" cy="548640"/>
          </a:xfrm>
          <a:prstGeom prst="rect">
            <a:avLst/>
          </a:prstGeom>
          <a:solidFill>
            <a:srgbClr val="14182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04888" y="1069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842"/>
                </a:solidFill>
                <a:latin typeface="Malgun Gothic"/>
              </a:rPr>
              <a:t>M4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1325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진행 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842"/>
                </a:solidFill>
                <a:latin typeface="Malgun Gothic"/>
              </a:rPr>
              <a:t>물리 엔진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9168" y="2011680"/>
            <a:ext cx="1600200" cy="4709160"/>
          </a:xfrm>
          <a:prstGeom prst="rect">
            <a:avLst/>
          </a:prstGeom>
          <a:solidFill>
            <a:srgbClr val="16192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0608" y="2075688"/>
            <a:ext cx="1463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• 넉백 Weight 계산
• Splat 고정 피해
• 소프트 낙사 완성
• 예측 Ghost UI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1051560"/>
            <a:ext cx="1600200" cy="548640"/>
          </a:xfrm>
          <a:prstGeom prst="rect">
            <a:avLst/>
          </a:prstGeom>
          <a:solidFill>
            <a:srgbClr val="141828"/>
          </a:solidFill>
          <a:ln w="1905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1069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7F9A"/>
                </a:solidFill>
                <a:latin typeface="Malgun Gothic"/>
              </a:rPr>
              <a:t>M5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1325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7F9A"/>
                </a:solidFill>
                <a:latin typeface="Malgun Gothic"/>
              </a:rPr>
              <a:t>AI 고도화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2011680"/>
            <a:ext cx="1600200" cy="4709160"/>
          </a:xfrm>
          <a:prstGeom prst="rect">
            <a:avLst/>
          </a:prstGeom>
          <a:solidFill>
            <a:srgbClr val="161928"/>
          </a:solidFill>
          <a:ln w="1270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2075688"/>
            <a:ext cx="1463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• 점수화 AI 시연 품질
• Override 트리거 안정화
• AP 인식 전술 판단
• Encounter 설계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05872" y="1051560"/>
            <a:ext cx="1600200" cy="548640"/>
          </a:xfrm>
          <a:prstGeom prst="rect">
            <a:avLst/>
          </a:prstGeom>
          <a:solidFill>
            <a:srgbClr val="141828"/>
          </a:solidFill>
          <a:ln w="1905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51592" y="1069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7F9A"/>
                </a:solidFill>
                <a:latin typeface="Malgun Gothic"/>
              </a:rPr>
              <a:t>M6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51592" y="132588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예정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05872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7F9A"/>
                </a:solidFill>
                <a:latin typeface="Malgun Gothic"/>
              </a:rPr>
              <a:t>졸업작품 완성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05872" y="2011680"/>
            <a:ext cx="1600200" cy="4709160"/>
          </a:xfrm>
          <a:prstGeom prst="rect">
            <a:avLst/>
          </a:prstGeom>
          <a:solidFill>
            <a:srgbClr val="161928"/>
          </a:solidFill>
          <a:ln w="1270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97312" y="2075688"/>
            <a:ext cx="1463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F9A"/>
                </a:solidFill>
                <a:latin typeface="Malgun Gothic"/>
              </a:rPr>
              <a:t>• 최종 전투 루프 잠금
• 아트 최소 완성도 확보
• Debug 토글 정리
• 시연 시나리오 완성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217920"/>
            <a:ext cx="11457432" cy="411480"/>
          </a:xfrm>
          <a:prstGeom prst="rect">
            <a:avLst/>
          </a:prstGeom>
          <a:solidFill>
            <a:srgbClr val="1013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281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Malgun Gothic"/>
              </a:rPr>
              <a:t>■ 완료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6281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Malgun Gothic"/>
              </a:rPr>
              <a:t>■ 진행 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6281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F9A"/>
                </a:solidFill>
                <a:latin typeface="Malgun Gothic"/>
              </a:rPr>
              <a:t>■ 예정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2011680" cy="29260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FF"/>
                </a:solidFill>
                <a:latin typeface="Malgun Gothic"/>
              </a:rPr>
              <a:t>PART 2  ·  아키텍처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전체 시스템 아키텍처 다이어그램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57432" cy="914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57432" cy="822960"/>
          </a:xfrm>
          <a:prstGeom prst="rect">
            <a:avLst/>
          </a:prstGeom>
          <a:solidFill>
            <a:srgbClr val="18160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064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842"/>
                </a:solidFill>
                <a:latin typeface="Malgun Gothic"/>
              </a:rPr>
              <a:t>🎮  플레이어 입력 / AI 의사결정 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3560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Courier New"/>
              </a:rPr>
              <a:t>PlayerInputHandler  ·  UnitBrain (ActionBid)  ·  AITeamCommander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7316" y="18928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47672"/>
            <a:ext cx="11457432" cy="822960"/>
          </a:xfrm>
          <a:prstGeom prst="rect">
            <a:avLst/>
          </a:prstGeom>
          <a:solidFill>
            <a:srgbClr val="08162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02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Malgun Gothic"/>
              </a:rPr>
              <a:t>⚙  행동 실행 레이어 (Action Runtime)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Courier New"/>
              </a:rPr>
              <a:t>ActionScheduler  ·  ActionCostReservation  ·  InterruptArbitrationService  ·  ActionStateMachine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316" y="27889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43784"/>
            <a:ext cx="11457432" cy="822960"/>
          </a:xfrm>
          <a:prstGeom prst="rect">
            <a:avLst/>
          </a:prstGeom>
          <a:solidFill>
            <a:srgbClr val="120C20"/>
          </a:solidFill>
          <a:ln w="1905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98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B59FF"/>
                </a:solidFill>
                <a:latin typeface="Malgun Gothic"/>
              </a:rPr>
              <a:t>🔋  자원 &amp; 효과 레이어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2783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Courier New"/>
              </a:rPr>
              <a:t>APManager  ·  StatusEffectComponent  ·  ReactionSystem  ·  EffectSystem  ·  TickScheduler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7316" y="36850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39896"/>
            <a:ext cx="11457432" cy="822960"/>
          </a:xfrm>
          <a:prstGeom prst="rect">
            <a:avLst/>
          </a:prstGeom>
          <a:solidFill>
            <a:srgbClr val="0A18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  <a:latin typeface="Malgun Gothic"/>
              </a:rPr>
              <a:t>🗺  보드 상태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23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Courier New"/>
              </a:rPr>
              <a:t>GridSystem (8×8 Singleton)  ·  UnitRuntimeState  ·  MovementComponent  ·  HealthComponent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7316" y="45811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36008"/>
            <a:ext cx="11457432" cy="822960"/>
          </a:xfrm>
          <a:prstGeom prst="rect">
            <a:avLst/>
          </a:prstGeom>
          <a:solidFill>
            <a:srgbClr val="141520"/>
          </a:solidFill>
          <a:ln w="19050">
            <a:solidFill>
              <a:srgbClr val="7A7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A7F9A"/>
                </a:solidFill>
                <a:latin typeface="Malgun Gothic"/>
              </a:rPr>
              <a:t>📡  데이터 &amp; 결정론 레이어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0056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Courier New"/>
              </a:rPr>
              <a:t>SimulationRuntime  ·  SimulationSnapshot  ·  SeededRandomProvider  ·  ReplayRecorder  ·  EventBus&lt;T&gt;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7316" y="54772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F9A"/>
                </a:solidFill>
                <a:latin typeface="Malgun Gothic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11457432" cy="822960"/>
          </a:xfrm>
          <a:prstGeom prst="rect">
            <a:avLst/>
          </a:prstGeom>
          <a:solidFill>
            <a:srgbClr val="181406"/>
          </a:solidFill>
          <a:ln w="1905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5869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A820"/>
                </a:solidFill>
                <a:latin typeface="Malgun Gothic"/>
              </a:rPr>
              <a:t>📦  데이터 에셋 레이어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1616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F9A"/>
                </a:solidFill>
                <a:latin typeface="Courier New"/>
              </a:rPr>
              <a:t>UnitData (SO)  ·  EnemyAIProfile (SO)  ·  PlayerDeckData (SO)  ·  AbilityDataSO  ·  EffectDataSO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0"/>
            <a:ext cx="11457432" cy="27432"/>
          </a:xfrm>
          <a:prstGeom prst="rect">
            <a:avLst/>
          </a:prstGeom>
          <a:solidFill>
            <a:srgbClr val="F5C84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C842"/>
                </a:solidFill>
                <a:latin typeface="Malgun Gothic"/>
              </a:rPr>
              <a:t>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C842"/>
                </a:solidFill>
                <a:latin typeface="Malgun Gothic"/>
              </a:rPr>
              <a:t>Project: Checkmate RPG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7F9A"/>
                </a:solidFill>
                <a:latin typeface="Malgun Gothic"/>
              </a:rPr>
              <a:t>체스 이동 규칙  ×  실시간 AP 경제  ×  물리 기반 위치전  ×  원소 반응 콤보
ActionBid AI  ×  결정론적 Replay 시스템  ×  ScriptableObject 데이터 아키텍처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2560320" cy="347472"/>
          </a:xfrm>
          <a:prstGeom prst="rect">
            <a:avLst/>
          </a:prstGeom>
          <a:solidFill>
            <a:srgbClr val="1216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1696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Unity 6000.3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4114800"/>
            <a:ext cx="2560320" cy="347472"/>
          </a:xfrm>
          <a:prstGeom prst="rect">
            <a:avLst/>
          </a:prstGeom>
          <a:solidFill>
            <a:srgbClr val="1216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41696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URP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114800"/>
            <a:ext cx="2560320" cy="347472"/>
          </a:xfrm>
          <a:prstGeom prst="rect">
            <a:avLst/>
          </a:prstGeom>
          <a:solidFill>
            <a:srgbClr val="1216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1696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8×8 체스 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14800"/>
            <a:ext cx="2560320" cy="347472"/>
          </a:xfrm>
          <a:prstGeom prst="rect">
            <a:avLst/>
          </a:prstGeom>
          <a:solidFill>
            <a:srgbClr val="1216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41696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AP Economy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2560320" cy="347472"/>
          </a:xfrm>
          <a:prstGeom prst="rect">
            <a:avLst/>
          </a:prstGeom>
          <a:solidFill>
            <a:srgbClr val="1216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268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ActionBid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572000"/>
            <a:ext cx="2560320" cy="347472"/>
          </a:xfrm>
          <a:prstGeom prst="rect">
            <a:avLst/>
          </a:prstGeom>
          <a:solidFill>
            <a:srgbClr val="1216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46268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Replay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572000"/>
            <a:ext cx="2560320" cy="347472"/>
          </a:xfrm>
          <a:prstGeom prst="rect">
            <a:avLst/>
          </a:prstGeom>
          <a:solidFill>
            <a:srgbClr val="121628"/>
          </a:solidFill>
          <a:ln w="1016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6268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C842"/>
                </a:solidFill>
                <a:latin typeface="Malgun Gothic"/>
              </a:rPr>
              <a:t>ScriptableObject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F9A"/>
                </a:solidFill>
                <a:latin typeface="Malgun Gothic"/>
              </a:rPr>
              <a:t>졸업작품  |  2026  |  Unity 6000.3.10f1  |  retshaft/Project_Chess_RPG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7F9A"/>
                </a:solidFill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